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63" r:id="rId2"/>
    <p:sldId id="256" r:id="rId3"/>
    <p:sldId id="257" r:id="rId4"/>
    <p:sldId id="258" r:id="rId5"/>
    <p:sldId id="259" r:id="rId6"/>
    <p:sldId id="260" r:id="rId7"/>
    <p:sldId id="261" r:id="rId8"/>
    <p:sldId id="262" r:id="rId9"/>
  </p:sldIdLst>
  <p:sldSz cx="14630400" cy="8229600"/>
  <p:notesSz cx="8229600" cy="14630400"/>
  <p:embeddedFontLst>
    <p:embeddedFont>
      <p:font typeface="Consolas" panose="020B0609020204030204" pitchFamily="49" charset="0"/>
      <p:regular r:id="rId11"/>
      <p:bold r:id="rId12"/>
      <p:italic r:id="rId13"/>
      <p:boldItalic r:id="rId14"/>
    </p:embeddedFont>
    <p:embeddedFont>
      <p:font typeface="Funnel Sans" panose="020B0604020202020204" charset="0"/>
      <p:regular r:id="rId15"/>
    </p:embeddedFont>
    <p:embeddedFont>
      <p:font typeface="Mona Sans Semi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7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A0997B-E436-41CE-AA33-366574FC94AA}" v="13" dt="2025-10-05T02:32:50.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ISH SONAWANE" userId="f2c56852f5babd57" providerId="LiveId" clId="{95118693-2063-4973-99F4-0F5FF79A9C16}"/>
    <pc:docChg chg="undo redo custSel addSld modSld sldOrd">
      <pc:chgData name="MOHANISH SONAWANE" userId="f2c56852f5babd57" providerId="LiveId" clId="{95118693-2063-4973-99F4-0F5FF79A9C16}" dt="2025-10-05T02:36:40.677" v="268" actId="1076"/>
      <pc:docMkLst>
        <pc:docMk/>
      </pc:docMkLst>
      <pc:sldChg chg="modSp mod">
        <pc:chgData name="MOHANISH SONAWANE" userId="f2c56852f5babd57" providerId="LiveId" clId="{95118693-2063-4973-99F4-0F5FF79A9C16}" dt="2025-10-05T02:23:51.932" v="220" actId="108"/>
        <pc:sldMkLst>
          <pc:docMk/>
          <pc:sldMk cId="0" sldId="257"/>
        </pc:sldMkLst>
        <pc:spChg chg="mod">
          <ac:chgData name="MOHANISH SONAWANE" userId="f2c56852f5babd57" providerId="LiveId" clId="{95118693-2063-4973-99F4-0F5FF79A9C16}" dt="2025-10-05T02:23:51.932" v="220" actId="108"/>
          <ac:spMkLst>
            <pc:docMk/>
            <pc:sldMk cId="0" sldId="257"/>
            <ac:spMk id="6" creationId="{00000000-0000-0000-0000-000000000000}"/>
          </ac:spMkLst>
        </pc:spChg>
      </pc:sldChg>
      <pc:sldChg chg="modSp mod">
        <pc:chgData name="MOHANISH SONAWANE" userId="f2c56852f5babd57" providerId="LiveId" clId="{95118693-2063-4973-99F4-0F5FF79A9C16}" dt="2025-10-05T02:25:10.542" v="228" actId="108"/>
        <pc:sldMkLst>
          <pc:docMk/>
          <pc:sldMk cId="0" sldId="261"/>
        </pc:sldMkLst>
        <pc:spChg chg="mod">
          <ac:chgData name="MOHANISH SONAWANE" userId="f2c56852f5babd57" providerId="LiveId" clId="{95118693-2063-4973-99F4-0F5FF79A9C16}" dt="2025-10-05T02:24:37.732" v="221" actId="108"/>
          <ac:spMkLst>
            <pc:docMk/>
            <pc:sldMk cId="0" sldId="261"/>
            <ac:spMk id="4" creationId="{00000000-0000-0000-0000-000000000000}"/>
          </ac:spMkLst>
        </pc:spChg>
        <pc:spChg chg="mod">
          <ac:chgData name="MOHANISH SONAWANE" userId="f2c56852f5babd57" providerId="LiveId" clId="{95118693-2063-4973-99F4-0F5FF79A9C16}" dt="2025-10-05T02:25:10.542" v="228" actId="108"/>
          <ac:spMkLst>
            <pc:docMk/>
            <pc:sldMk cId="0" sldId="261"/>
            <ac:spMk id="9" creationId="{00000000-0000-0000-0000-000000000000}"/>
          </ac:spMkLst>
        </pc:spChg>
      </pc:sldChg>
      <pc:sldChg chg="addSp delSp modSp new mod ord">
        <pc:chgData name="MOHANISH SONAWANE" userId="f2c56852f5babd57" providerId="LiveId" clId="{95118693-2063-4973-99F4-0F5FF79A9C16}" dt="2025-10-05T02:36:40.677" v="268" actId="1076"/>
        <pc:sldMkLst>
          <pc:docMk/>
          <pc:sldMk cId="3947545790" sldId="263"/>
        </pc:sldMkLst>
        <pc:spChg chg="add mod">
          <ac:chgData name="MOHANISH SONAWANE" userId="f2c56852f5babd57" providerId="LiveId" clId="{95118693-2063-4973-99F4-0F5FF79A9C16}" dt="2025-10-05T02:36:02.400" v="267" actId="20577"/>
          <ac:spMkLst>
            <pc:docMk/>
            <pc:sldMk cId="3947545790" sldId="263"/>
            <ac:spMk id="2" creationId="{05F3AC68-3B3C-B523-9563-1E750B51F36B}"/>
          </ac:spMkLst>
        </pc:spChg>
        <pc:spChg chg="add mod">
          <ac:chgData name="MOHANISH SONAWANE" userId="f2c56852f5babd57" providerId="LiveId" clId="{95118693-2063-4973-99F4-0F5FF79A9C16}" dt="2025-10-05T02:34:39.822" v="259" actId="1076"/>
          <ac:spMkLst>
            <pc:docMk/>
            <pc:sldMk cId="3947545790" sldId="263"/>
            <ac:spMk id="3" creationId="{4375DEA2-95F0-5BA4-3CFC-58630B019842}"/>
          </ac:spMkLst>
        </pc:spChg>
        <pc:spChg chg="add del mod">
          <ac:chgData name="MOHANISH SONAWANE" userId="f2c56852f5babd57" providerId="LiveId" clId="{95118693-2063-4973-99F4-0F5FF79A9C16}" dt="2025-10-05T02:11:07.834" v="62"/>
          <ac:spMkLst>
            <pc:docMk/>
            <pc:sldMk cId="3947545790" sldId="263"/>
            <ac:spMk id="4" creationId="{89FCB296-E66E-C35B-0F79-16624ADD8263}"/>
          </ac:spMkLst>
        </pc:spChg>
        <pc:spChg chg="add mod">
          <ac:chgData name="MOHANISH SONAWANE" userId="f2c56852f5babd57" providerId="LiveId" clId="{95118693-2063-4973-99F4-0F5FF79A9C16}" dt="2025-10-05T02:34:26.027" v="257" actId="1076"/>
          <ac:spMkLst>
            <pc:docMk/>
            <pc:sldMk cId="3947545790" sldId="263"/>
            <ac:spMk id="5" creationId="{E88F8CE0-CD17-04D0-1B2B-22BFD42FDF5F}"/>
          </ac:spMkLst>
        </pc:spChg>
        <pc:spChg chg="add mod">
          <ac:chgData name="MOHANISH SONAWANE" userId="f2c56852f5babd57" providerId="LiveId" clId="{95118693-2063-4973-99F4-0F5FF79A9C16}" dt="2025-10-05T02:22:56.535" v="216"/>
          <ac:spMkLst>
            <pc:docMk/>
            <pc:sldMk cId="3947545790" sldId="263"/>
            <ac:spMk id="6" creationId="{2976A040-18C0-16B3-8729-A545DA20FB06}"/>
          </ac:spMkLst>
        </pc:spChg>
        <pc:picChg chg="add mod">
          <ac:chgData name="MOHANISH SONAWANE" userId="f2c56852f5babd57" providerId="LiveId" clId="{95118693-2063-4973-99F4-0F5FF79A9C16}" dt="2025-10-05T02:36:40.677" v="268" actId="1076"/>
          <ac:picMkLst>
            <pc:docMk/>
            <pc:sldMk cId="3947545790" sldId="263"/>
            <ac:picMk id="7" creationId="{636D8006-0842-5016-ABAF-0C28DFCAFE12}"/>
          </ac:picMkLst>
        </pc:picChg>
        <pc:picChg chg="add mod">
          <ac:chgData name="MOHANISH SONAWANE" userId="f2c56852f5babd57" providerId="LiveId" clId="{95118693-2063-4973-99F4-0F5FF79A9C16}" dt="2025-10-05T02:34:58.054" v="261" actId="1076"/>
          <ac:picMkLst>
            <pc:docMk/>
            <pc:sldMk cId="3947545790" sldId="263"/>
            <ac:picMk id="8" creationId="{12080251-1D00-FD94-C10D-B9367419C53D}"/>
          </ac:picMkLst>
        </pc:picChg>
        <pc:picChg chg="add del mod">
          <ac:chgData name="MOHANISH SONAWANE" userId="f2c56852f5babd57" providerId="LiveId" clId="{95118693-2063-4973-99F4-0F5FF79A9C16}" dt="2025-10-05T02:28:59.033" v="233" actId="478"/>
          <ac:picMkLst>
            <pc:docMk/>
            <pc:sldMk cId="3947545790" sldId="263"/>
            <ac:picMk id="1026" creationId="{1D021E64-0B40-54A6-10F9-7CE20BCA13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6189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F3AC68-3B3C-B523-9563-1E750B51F36B}"/>
              </a:ext>
            </a:extLst>
          </p:cNvPr>
          <p:cNvSpPr txBox="1"/>
          <p:nvPr/>
        </p:nvSpPr>
        <p:spPr>
          <a:xfrm>
            <a:off x="-250903" y="811488"/>
            <a:ext cx="14630400" cy="777136"/>
          </a:xfrm>
          <a:prstGeom prst="rect">
            <a:avLst/>
          </a:prstGeom>
          <a:noFill/>
        </p:spPr>
        <p:txBody>
          <a:bodyPr wrap="square" rtlCol="0">
            <a:spAutoFit/>
          </a:bodyPr>
          <a:lstStyle/>
          <a:p>
            <a:pPr algn="ctr"/>
            <a:r>
              <a:rPr lang="en-US" sz="4450" dirty="0">
                <a:solidFill>
                  <a:srgbClr val="DDDDDD"/>
                </a:solidFill>
                <a:highlight>
                  <a:srgbClr val="800000"/>
                </a:highlight>
                <a:latin typeface="Mona Sans Semi Bold" pitchFamily="34" charset="0"/>
              </a:rPr>
              <a:t> NASA </a:t>
            </a:r>
            <a:r>
              <a:rPr lang="en-US" sz="4450" dirty="0">
                <a:solidFill>
                  <a:srgbClr val="DDDDDD"/>
                </a:solidFill>
                <a:latin typeface="Mona Sans Semi Bold" pitchFamily="34" charset="0"/>
              </a:rPr>
              <a:t> Space Apps Hackers</a:t>
            </a:r>
            <a:endParaRPr lang="en-IN" sz="4450" dirty="0">
              <a:solidFill>
                <a:srgbClr val="DDDDDD"/>
              </a:solidFill>
              <a:latin typeface="Mona Sans Semi Bold" pitchFamily="34" charset="0"/>
            </a:endParaRPr>
          </a:p>
        </p:txBody>
      </p:sp>
      <p:sp>
        <p:nvSpPr>
          <p:cNvPr id="3" name="TextBox 2">
            <a:extLst>
              <a:ext uri="{FF2B5EF4-FFF2-40B4-BE49-F238E27FC236}">
                <a16:creationId xmlns:a16="http://schemas.microsoft.com/office/drawing/2014/main" id="{4375DEA2-95F0-5BA4-3CFC-58630B019842}"/>
              </a:ext>
            </a:extLst>
          </p:cNvPr>
          <p:cNvSpPr txBox="1"/>
          <p:nvPr/>
        </p:nvSpPr>
        <p:spPr>
          <a:xfrm>
            <a:off x="4222377" y="1588624"/>
            <a:ext cx="5943600" cy="707886"/>
          </a:xfrm>
          <a:prstGeom prst="rect">
            <a:avLst/>
          </a:prstGeom>
          <a:noFill/>
        </p:spPr>
        <p:txBody>
          <a:bodyPr wrap="square" rtlCol="0">
            <a:spAutoFit/>
          </a:bodyPr>
          <a:lstStyle/>
          <a:p>
            <a:pPr algn="ctr"/>
            <a:r>
              <a:rPr lang="en-US" sz="4000" dirty="0">
                <a:solidFill>
                  <a:srgbClr val="DDDDDD"/>
                </a:solidFill>
                <a:latin typeface="Mona Sans Semi Bold" pitchFamily="34" charset="0"/>
              </a:rPr>
              <a:t>Title Page</a:t>
            </a:r>
            <a:endParaRPr lang="en-IN" sz="4000" dirty="0">
              <a:solidFill>
                <a:srgbClr val="DDDDDD"/>
              </a:solidFill>
              <a:latin typeface="Mona Sans Semi Bold" pitchFamily="34" charset="0"/>
            </a:endParaRPr>
          </a:p>
        </p:txBody>
      </p:sp>
      <p:sp>
        <p:nvSpPr>
          <p:cNvPr id="5" name="TextBox 4">
            <a:extLst>
              <a:ext uri="{FF2B5EF4-FFF2-40B4-BE49-F238E27FC236}">
                <a16:creationId xmlns:a16="http://schemas.microsoft.com/office/drawing/2014/main" id="{E88F8CE0-CD17-04D0-1B2B-22BFD42FDF5F}"/>
              </a:ext>
            </a:extLst>
          </p:cNvPr>
          <p:cNvSpPr txBox="1"/>
          <p:nvPr/>
        </p:nvSpPr>
        <p:spPr>
          <a:xfrm>
            <a:off x="699247" y="4045920"/>
            <a:ext cx="7082118" cy="3046988"/>
          </a:xfrm>
          <a:prstGeom prst="rect">
            <a:avLst/>
          </a:prstGeom>
          <a:noFill/>
        </p:spPr>
        <p:txBody>
          <a:bodyPr wrap="square" rtlCol="0">
            <a:spAutoFit/>
          </a:bodyPr>
          <a:lstStyle/>
          <a:p>
            <a:r>
              <a:rPr lang="en-US" sz="2800" dirty="0">
                <a:solidFill>
                  <a:srgbClr val="DDDDDD"/>
                </a:solidFill>
                <a:latin typeface="Mona Sans Semi Bold" pitchFamily="34" charset="0"/>
              </a:rPr>
              <a:t> </a:t>
            </a:r>
          </a:p>
          <a:p>
            <a:r>
              <a:rPr lang="en-US" sz="3200" dirty="0">
                <a:solidFill>
                  <a:srgbClr val="DDDDDD"/>
                </a:solidFill>
                <a:latin typeface="Mona Sans Semi Bold" pitchFamily="34" charset="0"/>
              </a:rPr>
              <a:t>Project Title :-Smart </a:t>
            </a:r>
            <a:r>
              <a:rPr lang="en-US" sz="3200" dirty="0">
                <a:solidFill>
                  <a:srgbClr val="DDDDDD"/>
                </a:solidFill>
                <a:latin typeface="Mona Sans Semi Bold" pitchFamily="34" charset="0"/>
                <a:ea typeface="Mona Sans Semi Bold" pitchFamily="34" charset="-122"/>
                <a:cs typeface="Mona Sans Semi Bold" pitchFamily="34" charset="-120"/>
              </a:rPr>
              <a:t>Planet Selector</a:t>
            </a:r>
          </a:p>
          <a:p>
            <a:r>
              <a:rPr lang="en-US" sz="3200" dirty="0">
                <a:solidFill>
                  <a:srgbClr val="DDDDDD"/>
                </a:solidFill>
                <a:latin typeface="Mona Sans Semi Bold" pitchFamily="34" charset="0"/>
              </a:rPr>
              <a:t>Theme:- Space Technology</a:t>
            </a:r>
          </a:p>
          <a:p>
            <a:r>
              <a:rPr lang="en-US" sz="3200" dirty="0">
                <a:solidFill>
                  <a:srgbClr val="DDDDDD"/>
                </a:solidFill>
                <a:latin typeface="Mona Sans Semi Bold" pitchFamily="34" charset="0"/>
              </a:rPr>
              <a:t>PS category :- web page</a:t>
            </a:r>
          </a:p>
          <a:p>
            <a:r>
              <a:rPr lang="en-US" sz="3200" dirty="0">
                <a:solidFill>
                  <a:srgbClr val="DDDDDD"/>
                </a:solidFill>
                <a:latin typeface="Mona Sans Semi Bold" pitchFamily="34" charset="0"/>
              </a:rPr>
              <a:t>Team Name :- Insane Yodha</a:t>
            </a:r>
          </a:p>
          <a:p>
            <a:r>
              <a:rPr lang="en-US" dirty="0">
                <a:solidFill>
                  <a:srgbClr val="DDDDDD"/>
                </a:solidFill>
                <a:latin typeface="Mona Sans Semi Bold" pitchFamily="34" charset="0"/>
              </a:rPr>
              <a:t> </a:t>
            </a:r>
            <a:endParaRPr lang="en-US" dirty="0"/>
          </a:p>
          <a:p>
            <a:r>
              <a:rPr lang="en-US" dirty="0">
                <a:solidFill>
                  <a:schemeClr val="bg1"/>
                </a:solidFill>
              </a:rPr>
              <a:t> </a:t>
            </a:r>
            <a:endParaRPr lang="en-IN" dirty="0">
              <a:solidFill>
                <a:schemeClr val="bg1"/>
              </a:solidFill>
            </a:endParaRPr>
          </a:p>
        </p:txBody>
      </p:sp>
      <p:sp>
        <p:nvSpPr>
          <p:cNvPr id="6" name="Rectangle 5">
            <a:extLst>
              <a:ext uri="{FF2B5EF4-FFF2-40B4-BE49-F238E27FC236}">
                <a16:creationId xmlns:a16="http://schemas.microsoft.com/office/drawing/2014/main" id="{2976A040-18C0-16B3-8729-A545DA20FB06}"/>
              </a:ext>
            </a:extLst>
          </p:cNvPr>
          <p:cNvSpPr/>
          <p:nvPr/>
        </p:nvSpPr>
        <p:spPr>
          <a:xfrm>
            <a:off x="12612029" y="7437863"/>
            <a:ext cx="1929161" cy="702527"/>
          </a:xfrm>
          <a:prstGeom prst="rect">
            <a:avLst/>
          </a:prstGeom>
          <a:solidFill>
            <a:srgbClr val="1917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636D8006-0842-5016-ABAF-0C28DFCAFE12}"/>
              </a:ext>
            </a:extLst>
          </p:cNvPr>
          <p:cNvPicPr>
            <a:picLocks noChangeAspect="1"/>
          </p:cNvPicPr>
          <p:nvPr/>
        </p:nvPicPr>
        <p:blipFill>
          <a:blip r:embed="rId2"/>
          <a:stretch>
            <a:fillRect/>
          </a:stretch>
        </p:blipFill>
        <p:spPr>
          <a:xfrm>
            <a:off x="8542043" y="3477180"/>
            <a:ext cx="4572009" cy="3800864"/>
          </a:xfrm>
          <a:prstGeom prst="rect">
            <a:avLst/>
          </a:prstGeom>
        </p:spPr>
      </p:pic>
      <p:pic>
        <p:nvPicPr>
          <p:cNvPr id="8" name="Picture 7">
            <a:extLst>
              <a:ext uri="{FF2B5EF4-FFF2-40B4-BE49-F238E27FC236}">
                <a16:creationId xmlns:a16="http://schemas.microsoft.com/office/drawing/2014/main" id="{12080251-1D00-FD94-C10D-B9367419C53D}"/>
              </a:ext>
            </a:extLst>
          </p:cNvPr>
          <p:cNvPicPr>
            <a:picLocks noChangeAspect="1"/>
          </p:cNvPicPr>
          <p:nvPr/>
        </p:nvPicPr>
        <p:blipFill>
          <a:blip r:embed="rId3"/>
          <a:stretch>
            <a:fillRect/>
          </a:stretch>
        </p:blipFill>
        <p:spPr>
          <a:xfrm>
            <a:off x="11404259" y="517062"/>
            <a:ext cx="1939267" cy="1939267"/>
          </a:xfrm>
          <a:prstGeom prst="rect">
            <a:avLst/>
          </a:prstGeom>
        </p:spPr>
      </p:pic>
    </p:spTree>
    <p:extLst>
      <p:ext uri="{BB962C8B-B14F-4D97-AF65-F5344CB8AC3E}">
        <p14:creationId xmlns:p14="http://schemas.microsoft.com/office/powerpoint/2010/main" val="3947545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95360" y="0"/>
            <a:ext cx="6035040" cy="8229600"/>
          </a:xfrm>
          <a:prstGeom prst="rect">
            <a:avLst/>
          </a:prstGeom>
        </p:spPr>
      </p:pic>
      <p:sp>
        <p:nvSpPr>
          <p:cNvPr id="3" name="Text 0"/>
          <p:cNvSpPr/>
          <p:nvPr/>
        </p:nvSpPr>
        <p:spPr>
          <a:xfrm>
            <a:off x="793790" y="2683073"/>
            <a:ext cx="6030992" cy="708779"/>
          </a:xfrm>
          <a:prstGeom prst="rect">
            <a:avLst/>
          </a:prstGeom>
          <a:noFill/>
          <a:ln/>
        </p:spPr>
        <p:txBody>
          <a:bodyPr wrap="none" lIns="0" tIns="0" rIns="0" bIns="0" rtlCol="0" anchor="t"/>
          <a:lstStyle/>
          <a:p>
            <a:pPr marL="0" indent="0" algn="l">
              <a:lnSpc>
                <a:spcPts val="5550"/>
              </a:lnSpc>
              <a:buNone/>
            </a:pPr>
            <a:r>
              <a:rPr lang="en-US" sz="4450" dirty="0">
                <a:solidFill>
                  <a:srgbClr val="DDDDDD"/>
                </a:solidFill>
                <a:latin typeface="Mona Sans Semi Bold" pitchFamily="34" charset="0"/>
                <a:ea typeface="Mona Sans Semi Bold" pitchFamily="34" charset="-122"/>
                <a:cs typeface="Mona Sans Semi Bold" pitchFamily="34" charset="-120"/>
              </a:rPr>
              <a:t>Smart Planet Selector</a:t>
            </a:r>
            <a:endParaRPr lang="en-US" sz="4450" dirty="0"/>
          </a:p>
        </p:txBody>
      </p:sp>
      <p:sp>
        <p:nvSpPr>
          <p:cNvPr id="4" name="Text 1"/>
          <p:cNvSpPr/>
          <p:nvPr/>
        </p:nvSpPr>
        <p:spPr>
          <a:xfrm>
            <a:off x="793790" y="3732014"/>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Hello! We are </a:t>
            </a:r>
            <a:r>
              <a:rPr lang="en-US" sz="1750" b="1" dirty="0">
                <a:solidFill>
                  <a:srgbClr val="8F8F8F"/>
                </a:solidFill>
                <a:latin typeface="Funnel Sans" pitchFamily="34" charset="0"/>
                <a:ea typeface="Funnel Sans" pitchFamily="34" charset="-122"/>
                <a:cs typeface="Funnel Sans" pitchFamily="34" charset="-120"/>
              </a:rPr>
              <a:t>Team Insane Yodha</a:t>
            </a:r>
            <a:r>
              <a:rPr lang="en-US" sz="1750" dirty="0">
                <a:solidFill>
                  <a:srgbClr val="8F8F8F"/>
                </a:solidFill>
                <a:latin typeface="Funnel Sans" pitchFamily="34" charset="0"/>
                <a:ea typeface="Funnel Sans" pitchFamily="34" charset="-122"/>
                <a:cs typeface="Funnel Sans" pitchFamily="34" charset="-120"/>
              </a:rPr>
              <a:t> from Sandip Foundation Polytechnic, and we're excited to present our interactive solar system explorer. Experience space exploration reimagined through cutting-edge web technology, where all 8 planets come alive with stunning visuals and fascinating facts.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9261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DDDDDD"/>
                </a:solidFill>
                <a:latin typeface="Mona Sans Semi Bold" pitchFamily="34" charset="0"/>
                <a:ea typeface="Mona Sans Semi Bold" pitchFamily="34" charset="-122"/>
                <a:cs typeface="Mona Sans Semi Bold" pitchFamily="34" charset="-120"/>
              </a:rPr>
              <a:t>The Journey Begins</a:t>
            </a:r>
            <a:endParaRPr lang="en-US" sz="4450" dirty="0"/>
          </a:p>
        </p:txBody>
      </p:sp>
      <p:pic>
        <p:nvPicPr>
          <p:cNvPr id="3" name="Image 0" descr="preencoded.png"/>
          <p:cNvPicPr>
            <a:picLocks noChangeAspect="1"/>
          </p:cNvPicPr>
          <p:nvPr/>
        </p:nvPicPr>
        <p:blipFill>
          <a:blip r:embed="rId3"/>
          <a:stretch>
            <a:fillRect/>
          </a:stretch>
        </p:blipFill>
        <p:spPr>
          <a:xfrm>
            <a:off x="793790" y="2196703"/>
            <a:ext cx="4885015" cy="4885015"/>
          </a:xfrm>
          <a:prstGeom prst="rect">
            <a:avLst/>
          </a:prstGeom>
        </p:spPr>
      </p:pic>
      <p:sp>
        <p:nvSpPr>
          <p:cNvPr id="4" name="Text 1"/>
          <p:cNvSpPr/>
          <p:nvPr/>
        </p:nvSpPr>
        <p:spPr>
          <a:xfrm>
            <a:off x="6239828" y="2168366"/>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DDDDDD"/>
                </a:solidFill>
                <a:latin typeface="Mona Sans Semi Bold" pitchFamily="34" charset="0"/>
                <a:ea typeface="Mona Sans Semi Bold" pitchFamily="34" charset="-122"/>
                <a:cs typeface="Mona Sans Semi Bold" pitchFamily="34" charset="-120"/>
              </a:rPr>
              <a:t>Welcoming Portal</a:t>
            </a:r>
            <a:endParaRPr lang="en-US" sz="2650" dirty="0"/>
          </a:p>
        </p:txBody>
      </p:sp>
      <p:sp>
        <p:nvSpPr>
          <p:cNvPr id="5" name="Text 2"/>
          <p:cNvSpPr/>
          <p:nvPr/>
        </p:nvSpPr>
        <p:spPr>
          <a:xfrm>
            <a:off x="6239828" y="2820472"/>
            <a:ext cx="7604284" cy="1451610"/>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Our start page sets the cosmic stage with an </a:t>
            </a:r>
            <a:r>
              <a:rPr lang="en-US" sz="1750" b="1" dirty="0">
                <a:solidFill>
                  <a:srgbClr val="8F8F8F"/>
                </a:solidFill>
                <a:latin typeface="Funnel Sans" pitchFamily="34" charset="0"/>
                <a:ea typeface="Funnel Sans" pitchFamily="34" charset="-122"/>
                <a:cs typeface="Funnel Sans" pitchFamily="34" charset="-120"/>
              </a:rPr>
              <a:t>immersive space background</a:t>
            </a:r>
            <a:r>
              <a:rPr lang="en-US" sz="1750" dirty="0">
                <a:solidFill>
                  <a:srgbClr val="8F8F8F"/>
                </a:solidFill>
                <a:latin typeface="Funnel Sans" pitchFamily="34" charset="0"/>
                <a:ea typeface="Funnel Sans" pitchFamily="34" charset="-122"/>
                <a:cs typeface="Funnel Sans" pitchFamily="34" charset="-120"/>
              </a:rPr>
              <a:t> that instantly transports users beyond Earth. The glowing red title "NASA Space Apps Hackers" commands attention, while Team Insane Yodha's identity shines through clean typography.</a:t>
            </a:r>
            <a:endParaRPr lang="en-US" sz="1750" dirty="0"/>
          </a:p>
        </p:txBody>
      </p:sp>
      <p:sp>
        <p:nvSpPr>
          <p:cNvPr id="6" name="Text 3"/>
          <p:cNvSpPr/>
          <p:nvPr/>
        </p:nvSpPr>
        <p:spPr>
          <a:xfrm>
            <a:off x="6239828" y="4476155"/>
            <a:ext cx="7604284" cy="1451610"/>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rPr>
              <a:t>The interactive "Begin" button features neon colors, dynamic shadows, and hover animations that respond to user interaction. CSS orchestrates the layout, fonts, colors, and responsive spacing to create a futuristic and professional entry point for the entire experience.</a:t>
            </a:r>
          </a:p>
        </p:txBody>
      </p:sp>
      <p:sp>
        <p:nvSpPr>
          <p:cNvPr id="7" name="Rectangle 6">
            <a:extLst>
              <a:ext uri="{FF2B5EF4-FFF2-40B4-BE49-F238E27FC236}">
                <a16:creationId xmlns:a16="http://schemas.microsoft.com/office/drawing/2014/main" id="{18278822-E2FB-E239-8C7C-3E2E9647E4FA}"/>
              </a:ext>
            </a:extLst>
          </p:cNvPr>
          <p:cNvSpPr/>
          <p:nvPr/>
        </p:nvSpPr>
        <p:spPr>
          <a:xfrm>
            <a:off x="12612029" y="7437863"/>
            <a:ext cx="1929161" cy="702527"/>
          </a:xfrm>
          <a:prstGeom prst="rect">
            <a:avLst/>
          </a:prstGeom>
          <a:solidFill>
            <a:srgbClr val="1917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35040" cy="8229600"/>
          </a:xfrm>
          <a:prstGeom prst="rect">
            <a:avLst/>
          </a:prstGeom>
        </p:spPr>
      </p:pic>
      <p:sp>
        <p:nvSpPr>
          <p:cNvPr id="3" name="Text 0"/>
          <p:cNvSpPr/>
          <p:nvPr/>
        </p:nvSpPr>
        <p:spPr>
          <a:xfrm>
            <a:off x="6254591" y="753070"/>
            <a:ext cx="5701903" cy="583049"/>
          </a:xfrm>
          <a:prstGeom prst="rect">
            <a:avLst/>
          </a:prstGeom>
          <a:noFill/>
          <a:ln/>
        </p:spPr>
        <p:txBody>
          <a:bodyPr wrap="none" lIns="0" tIns="0" rIns="0" bIns="0" rtlCol="0" anchor="t"/>
          <a:lstStyle/>
          <a:p>
            <a:pPr marL="0" indent="0" algn="l">
              <a:lnSpc>
                <a:spcPts val="4550"/>
              </a:lnSpc>
              <a:buNone/>
            </a:pPr>
            <a:r>
              <a:rPr lang="en-US" sz="3650" dirty="0">
                <a:solidFill>
                  <a:srgbClr val="DDDDDD"/>
                </a:solidFill>
                <a:latin typeface="Mona Sans Semi Bold" pitchFamily="34" charset="0"/>
                <a:ea typeface="Mona Sans Semi Bold" pitchFamily="34" charset="-122"/>
                <a:cs typeface="Mona Sans Semi Bold" pitchFamily="34" charset="-120"/>
              </a:rPr>
              <a:t>Interactive Planet Gallery</a:t>
            </a:r>
            <a:endParaRPr lang="en-US" sz="3650" dirty="0"/>
          </a:p>
        </p:txBody>
      </p:sp>
      <p:sp>
        <p:nvSpPr>
          <p:cNvPr id="4" name="Shape 1"/>
          <p:cNvSpPr/>
          <p:nvPr/>
        </p:nvSpPr>
        <p:spPr>
          <a:xfrm>
            <a:off x="6254591" y="1615916"/>
            <a:ext cx="3710464" cy="2433518"/>
          </a:xfrm>
          <a:prstGeom prst="roundRect">
            <a:avLst>
              <a:gd name="adj" fmla="val 3220"/>
            </a:avLst>
          </a:prstGeom>
          <a:solidFill>
            <a:srgbClr val="404040"/>
          </a:solidFill>
          <a:ln w="7620">
            <a:solidFill>
              <a:srgbClr val="595959"/>
            </a:solidFill>
            <a:prstDash val="solid"/>
          </a:ln>
        </p:spPr>
      </p:sp>
      <p:sp>
        <p:nvSpPr>
          <p:cNvPr id="5" name="Shape 2"/>
          <p:cNvSpPr/>
          <p:nvPr/>
        </p:nvSpPr>
        <p:spPr>
          <a:xfrm>
            <a:off x="6448782" y="1810107"/>
            <a:ext cx="559713" cy="559713"/>
          </a:xfrm>
          <a:prstGeom prst="roundRect">
            <a:avLst>
              <a:gd name="adj" fmla="val 16335310"/>
            </a:avLst>
          </a:prstGeom>
          <a:solidFill>
            <a:srgbClr val="FFFFFF"/>
          </a:solidFill>
          <a:ln/>
        </p:spPr>
      </p:sp>
      <p:pic>
        <p:nvPicPr>
          <p:cNvPr id="6" name="Image 1" descr="preencoded.png"/>
          <p:cNvPicPr>
            <a:picLocks noChangeAspect="1"/>
          </p:cNvPicPr>
          <p:nvPr/>
        </p:nvPicPr>
        <p:blipFill>
          <a:blip r:embed="rId4"/>
          <a:stretch>
            <a:fillRect/>
          </a:stretch>
        </p:blipFill>
        <p:spPr>
          <a:xfrm>
            <a:off x="6602730" y="1932503"/>
            <a:ext cx="251817" cy="314801"/>
          </a:xfrm>
          <a:prstGeom prst="rect">
            <a:avLst/>
          </a:prstGeom>
        </p:spPr>
      </p:pic>
      <p:sp>
        <p:nvSpPr>
          <p:cNvPr id="7" name="Text 3"/>
          <p:cNvSpPr/>
          <p:nvPr/>
        </p:nvSpPr>
        <p:spPr>
          <a:xfrm>
            <a:off x="6448782" y="2556391"/>
            <a:ext cx="2332196" cy="291465"/>
          </a:xfrm>
          <a:prstGeom prst="rect">
            <a:avLst/>
          </a:prstGeom>
          <a:noFill/>
          <a:ln/>
        </p:spPr>
        <p:txBody>
          <a:bodyPr wrap="none" lIns="0" tIns="0" rIns="0" bIns="0" rtlCol="0" anchor="t"/>
          <a:lstStyle/>
          <a:p>
            <a:pPr marL="0" indent="0" algn="l">
              <a:lnSpc>
                <a:spcPts val="2250"/>
              </a:lnSpc>
              <a:buNone/>
            </a:pPr>
            <a:r>
              <a:rPr lang="en-US" sz="1800" dirty="0">
                <a:solidFill>
                  <a:srgbClr val="FFFFFF"/>
                </a:solidFill>
                <a:latin typeface="Mona Sans Semi Bold" pitchFamily="34" charset="0"/>
                <a:ea typeface="Mona Sans Semi Bold" pitchFamily="34" charset="-122"/>
                <a:cs typeface="Mona Sans Semi Bold" pitchFamily="34" charset="-120"/>
              </a:rPr>
              <a:t>Scrollable Design</a:t>
            </a:r>
            <a:endParaRPr lang="en-US" sz="1800" dirty="0"/>
          </a:p>
        </p:txBody>
      </p:sp>
      <p:sp>
        <p:nvSpPr>
          <p:cNvPr id="8" name="Text 4"/>
          <p:cNvSpPr/>
          <p:nvPr/>
        </p:nvSpPr>
        <p:spPr>
          <a:xfrm>
            <a:off x="6448782" y="2959775"/>
            <a:ext cx="3322082" cy="895469"/>
          </a:xfrm>
          <a:prstGeom prst="rect">
            <a:avLst/>
          </a:prstGeom>
          <a:noFill/>
          <a:ln/>
        </p:spPr>
        <p:txBody>
          <a:bodyPr wrap="square" lIns="0" tIns="0" rIns="0" bIns="0" rtlCol="0" anchor="t"/>
          <a:lstStyle/>
          <a:p>
            <a:pPr marL="0" indent="0" algn="l">
              <a:lnSpc>
                <a:spcPts val="2350"/>
              </a:lnSpc>
              <a:buNone/>
            </a:pPr>
            <a:r>
              <a:rPr lang="en-US" sz="1450" dirty="0">
                <a:solidFill>
                  <a:srgbClr val="FFFFFF"/>
                </a:solidFill>
                <a:latin typeface="Funnel Sans" pitchFamily="34" charset="0"/>
                <a:ea typeface="Funnel Sans" pitchFamily="34" charset="-122"/>
                <a:cs typeface="Funnel Sans" pitchFamily="34" charset="-120"/>
              </a:rPr>
              <a:t>All 8 planets displayed in a smooth horizontal gallery with intuitive navigation arrows</a:t>
            </a:r>
            <a:endParaRPr lang="en-US" sz="1450" dirty="0"/>
          </a:p>
        </p:txBody>
      </p:sp>
      <p:sp>
        <p:nvSpPr>
          <p:cNvPr id="9" name="Shape 5"/>
          <p:cNvSpPr/>
          <p:nvPr/>
        </p:nvSpPr>
        <p:spPr>
          <a:xfrm>
            <a:off x="10151626" y="1615916"/>
            <a:ext cx="3710583" cy="2433518"/>
          </a:xfrm>
          <a:prstGeom prst="roundRect">
            <a:avLst>
              <a:gd name="adj" fmla="val 3220"/>
            </a:avLst>
          </a:prstGeom>
          <a:solidFill>
            <a:srgbClr val="404040"/>
          </a:solidFill>
          <a:ln w="7620">
            <a:solidFill>
              <a:srgbClr val="595959"/>
            </a:solidFill>
            <a:prstDash val="solid"/>
          </a:ln>
        </p:spPr>
      </p:sp>
      <p:sp>
        <p:nvSpPr>
          <p:cNvPr id="10" name="Shape 6"/>
          <p:cNvSpPr/>
          <p:nvPr/>
        </p:nvSpPr>
        <p:spPr>
          <a:xfrm>
            <a:off x="10345817" y="1810107"/>
            <a:ext cx="559713" cy="559713"/>
          </a:xfrm>
          <a:prstGeom prst="roundRect">
            <a:avLst>
              <a:gd name="adj" fmla="val 16335310"/>
            </a:avLst>
          </a:prstGeom>
          <a:solidFill>
            <a:srgbClr val="FFFFFF"/>
          </a:solidFill>
          <a:ln/>
        </p:spPr>
      </p:sp>
      <p:pic>
        <p:nvPicPr>
          <p:cNvPr id="11" name="Image 2" descr="preencoded.png"/>
          <p:cNvPicPr>
            <a:picLocks noChangeAspect="1"/>
          </p:cNvPicPr>
          <p:nvPr/>
        </p:nvPicPr>
        <p:blipFill>
          <a:blip r:embed="rId5"/>
          <a:stretch>
            <a:fillRect/>
          </a:stretch>
        </p:blipFill>
        <p:spPr>
          <a:xfrm>
            <a:off x="10499765" y="1932503"/>
            <a:ext cx="251817" cy="314801"/>
          </a:xfrm>
          <a:prstGeom prst="rect">
            <a:avLst/>
          </a:prstGeom>
        </p:spPr>
      </p:pic>
      <p:sp>
        <p:nvSpPr>
          <p:cNvPr id="12" name="Text 7"/>
          <p:cNvSpPr/>
          <p:nvPr/>
        </p:nvSpPr>
        <p:spPr>
          <a:xfrm>
            <a:off x="10345817" y="2556391"/>
            <a:ext cx="2332196" cy="291465"/>
          </a:xfrm>
          <a:prstGeom prst="rect">
            <a:avLst/>
          </a:prstGeom>
          <a:noFill/>
          <a:ln/>
        </p:spPr>
        <p:txBody>
          <a:bodyPr wrap="none" lIns="0" tIns="0" rIns="0" bIns="0" rtlCol="0" anchor="t"/>
          <a:lstStyle/>
          <a:p>
            <a:pPr marL="0" indent="0" algn="l">
              <a:lnSpc>
                <a:spcPts val="2250"/>
              </a:lnSpc>
              <a:buNone/>
            </a:pPr>
            <a:r>
              <a:rPr lang="en-US" sz="1800" dirty="0">
                <a:solidFill>
                  <a:srgbClr val="FFFFFF"/>
                </a:solidFill>
                <a:latin typeface="Mona Sans Semi Bold" pitchFamily="34" charset="0"/>
                <a:ea typeface="Mona Sans Semi Bold" pitchFamily="34" charset="-122"/>
                <a:cs typeface="Mona Sans Semi Bold" pitchFamily="34" charset="-120"/>
              </a:rPr>
              <a:t>Interactive Cards</a:t>
            </a:r>
            <a:endParaRPr lang="en-US" sz="1800" dirty="0"/>
          </a:p>
        </p:txBody>
      </p:sp>
      <p:sp>
        <p:nvSpPr>
          <p:cNvPr id="13" name="Text 8"/>
          <p:cNvSpPr/>
          <p:nvPr/>
        </p:nvSpPr>
        <p:spPr>
          <a:xfrm>
            <a:off x="10345817" y="2959775"/>
            <a:ext cx="3322201" cy="895469"/>
          </a:xfrm>
          <a:prstGeom prst="rect">
            <a:avLst/>
          </a:prstGeom>
          <a:noFill/>
          <a:ln/>
        </p:spPr>
        <p:txBody>
          <a:bodyPr wrap="square" lIns="0" tIns="0" rIns="0" bIns="0" rtlCol="0" anchor="t"/>
          <a:lstStyle/>
          <a:p>
            <a:pPr marL="0" indent="0" algn="l">
              <a:lnSpc>
                <a:spcPts val="2350"/>
              </a:lnSpc>
              <a:buNone/>
            </a:pPr>
            <a:r>
              <a:rPr lang="en-US" sz="1450" dirty="0">
                <a:solidFill>
                  <a:srgbClr val="FFFFFF"/>
                </a:solidFill>
                <a:latin typeface="Funnel Sans" pitchFamily="34" charset="0"/>
                <a:ea typeface="Funnel Sans" pitchFamily="34" charset="-122"/>
                <a:cs typeface="Funnel Sans" pitchFamily="34" charset="-120"/>
              </a:rPr>
              <a:t>Planet cards enlarge on hover with 3D shadow effects and clickable links to detailed pages</a:t>
            </a:r>
            <a:endParaRPr lang="en-US" sz="1450" dirty="0"/>
          </a:p>
        </p:txBody>
      </p:sp>
      <p:sp>
        <p:nvSpPr>
          <p:cNvPr id="14" name="Shape 9"/>
          <p:cNvSpPr/>
          <p:nvPr/>
        </p:nvSpPr>
        <p:spPr>
          <a:xfrm>
            <a:off x="6254591" y="4236006"/>
            <a:ext cx="7607618" cy="1836539"/>
          </a:xfrm>
          <a:prstGeom prst="roundRect">
            <a:avLst>
              <a:gd name="adj" fmla="val 4267"/>
            </a:avLst>
          </a:prstGeom>
          <a:solidFill>
            <a:srgbClr val="404040"/>
          </a:solidFill>
          <a:ln w="7620">
            <a:solidFill>
              <a:srgbClr val="595959"/>
            </a:solidFill>
            <a:prstDash val="solid"/>
          </a:ln>
        </p:spPr>
      </p:sp>
      <p:sp>
        <p:nvSpPr>
          <p:cNvPr id="15" name="Shape 10"/>
          <p:cNvSpPr/>
          <p:nvPr/>
        </p:nvSpPr>
        <p:spPr>
          <a:xfrm>
            <a:off x="6448782" y="4430197"/>
            <a:ext cx="559713" cy="559713"/>
          </a:xfrm>
          <a:prstGeom prst="roundRect">
            <a:avLst>
              <a:gd name="adj" fmla="val 16335310"/>
            </a:avLst>
          </a:prstGeom>
          <a:solidFill>
            <a:srgbClr val="FFFFFF"/>
          </a:solidFill>
          <a:ln/>
        </p:spPr>
      </p:sp>
      <p:pic>
        <p:nvPicPr>
          <p:cNvPr id="16" name="Image 3" descr="preencoded.png"/>
          <p:cNvPicPr>
            <a:picLocks noChangeAspect="1"/>
          </p:cNvPicPr>
          <p:nvPr/>
        </p:nvPicPr>
        <p:blipFill>
          <a:blip r:embed="rId6"/>
          <a:stretch>
            <a:fillRect/>
          </a:stretch>
        </p:blipFill>
        <p:spPr>
          <a:xfrm>
            <a:off x="6602730" y="4552593"/>
            <a:ext cx="251817" cy="314801"/>
          </a:xfrm>
          <a:prstGeom prst="rect">
            <a:avLst/>
          </a:prstGeom>
        </p:spPr>
      </p:pic>
      <p:sp>
        <p:nvSpPr>
          <p:cNvPr id="17" name="Text 11"/>
          <p:cNvSpPr/>
          <p:nvPr/>
        </p:nvSpPr>
        <p:spPr>
          <a:xfrm>
            <a:off x="6448782" y="5176480"/>
            <a:ext cx="2332196" cy="291465"/>
          </a:xfrm>
          <a:prstGeom prst="rect">
            <a:avLst/>
          </a:prstGeom>
          <a:noFill/>
          <a:ln/>
        </p:spPr>
        <p:txBody>
          <a:bodyPr wrap="none" lIns="0" tIns="0" rIns="0" bIns="0" rtlCol="0" anchor="t"/>
          <a:lstStyle/>
          <a:p>
            <a:pPr marL="0" indent="0" algn="l">
              <a:lnSpc>
                <a:spcPts val="2250"/>
              </a:lnSpc>
              <a:buNone/>
            </a:pPr>
            <a:r>
              <a:rPr lang="en-US" sz="1800" dirty="0">
                <a:solidFill>
                  <a:srgbClr val="FFFFFF"/>
                </a:solidFill>
                <a:latin typeface="Mona Sans Semi Bold" pitchFamily="34" charset="0"/>
                <a:ea typeface="Mona Sans Semi Bold" pitchFamily="34" charset="-122"/>
                <a:cs typeface="Mona Sans Semi Bold" pitchFamily="34" charset="-120"/>
              </a:rPr>
              <a:t>Visual Polish</a:t>
            </a:r>
            <a:endParaRPr lang="en-US" sz="1800" dirty="0"/>
          </a:p>
        </p:txBody>
      </p:sp>
      <p:sp>
        <p:nvSpPr>
          <p:cNvPr id="18" name="Text 12"/>
          <p:cNvSpPr/>
          <p:nvPr/>
        </p:nvSpPr>
        <p:spPr>
          <a:xfrm>
            <a:off x="6448782" y="5579864"/>
            <a:ext cx="7219236" cy="298490"/>
          </a:xfrm>
          <a:prstGeom prst="rect">
            <a:avLst/>
          </a:prstGeom>
          <a:noFill/>
          <a:ln/>
        </p:spPr>
        <p:txBody>
          <a:bodyPr wrap="none" lIns="0" tIns="0" rIns="0" bIns="0" rtlCol="0" anchor="t"/>
          <a:lstStyle/>
          <a:p>
            <a:pPr marL="0" indent="0" algn="l">
              <a:lnSpc>
                <a:spcPts val="2350"/>
              </a:lnSpc>
              <a:buNone/>
            </a:pPr>
            <a:r>
              <a:rPr lang="en-US" sz="1450" dirty="0">
                <a:solidFill>
                  <a:srgbClr val="FFFFFF"/>
                </a:solidFill>
                <a:latin typeface="Funnel Sans" pitchFamily="34" charset="0"/>
                <a:ea typeface="Funnel Sans" pitchFamily="34" charset="-122"/>
                <a:cs typeface="Funnel Sans" pitchFamily="34" charset="-120"/>
              </a:rPr>
              <a:t>Futuristic fonts with glowing effects, cosmic backgrounds, and seamless animations</a:t>
            </a:r>
            <a:endParaRPr lang="en-US" sz="1450" dirty="0"/>
          </a:p>
        </p:txBody>
      </p:sp>
      <p:sp>
        <p:nvSpPr>
          <p:cNvPr id="19" name="Text 13"/>
          <p:cNvSpPr/>
          <p:nvPr/>
        </p:nvSpPr>
        <p:spPr>
          <a:xfrm>
            <a:off x="6254591" y="6282452"/>
            <a:ext cx="7607618" cy="1193959"/>
          </a:xfrm>
          <a:prstGeom prst="rect">
            <a:avLst/>
          </a:prstGeom>
          <a:noFill/>
          <a:ln/>
        </p:spPr>
        <p:txBody>
          <a:bodyPr wrap="square" lIns="0" tIns="0" rIns="0" bIns="0" rtlCol="0" anchor="t"/>
          <a:lstStyle/>
          <a:p>
            <a:pPr marL="0" indent="0" algn="l">
              <a:lnSpc>
                <a:spcPts val="2350"/>
              </a:lnSpc>
              <a:buNone/>
            </a:pPr>
            <a:r>
              <a:rPr lang="en-US" sz="1450" dirty="0">
                <a:solidFill>
                  <a:srgbClr val="8F8F8F"/>
                </a:solidFill>
                <a:latin typeface="Funnel Sans" pitchFamily="34" charset="0"/>
                <a:ea typeface="Funnel Sans" pitchFamily="34" charset="-122"/>
                <a:cs typeface="Funnel Sans" pitchFamily="34" charset="-120"/>
              </a:rPr>
              <a:t>The Smart Planet Selector showcases all 8 planets in an elegant, horizontally scrollable interface. Each planet card features high-quality imagery and clear labeling. JavaScript dynamically generates the cards and powers the smooth scrolling functionality, while CSS creates depth through shadows, spacing, and hover animations.</a:t>
            </a:r>
            <a:endParaRPr lang="en-US" sz="1450" dirty="0"/>
          </a:p>
        </p:txBody>
      </p:sp>
      <p:sp>
        <p:nvSpPr>
          <p:cNvPr id="20" name="Rectangle 19">
            <a:extLst>
              <a:ext uri="{FF2B5EF4-FFF2-40B4-BE49-F238E27FC236}">
                <a16:creationId xmlns:a16="http://schemas.microsoft.com/office/drawing/2014/main" id="{2B0A9019-3A59-1504-5237-FD20BDA2D62A}"/>
              </a:ext>
            </a:extLst>
          </p:cNvPr>
          <p:cNvSpPr/>
          <p:nvPr/>
        </p:nvSpPr>
        <p:spPr>
          <a:xfrm>
            <a:off x="12612029" y="7437863"/>
            <a:ext cx="1929161" cy="702527"/>
          </a:xfrm>
          <a:prstGeom prst="rect">
            <a:avLst/>
          </a:prstGeom>
          <a:solidFill>
            <a:srgbClr val="1917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35040" cy="8229600"/>
          </a:xfrm>
          <a:prstGeom prst="rect">
            <a:avLst/>
          </a:prstGeom>
        </p:spPr>
      </p:pic>
      <p:sp>
        <p:nvSpPr>
          <p:cNvPr id="3" name="Text 0"/>
          <p:cNvSpPr/>
          <p:nvPr/>
        </p:nvSpPr>
        <p:spPr>
          <a:xfrm>
            <a:off x="6280190" y="720090"/>
            <a:ext cx="5852398" cy="673418"/>
          </a:xfrm>
          <a:prstGeom prst="rect">
            <a:avLst/>
          </a:prstGeom>
          <a:noFill/>
          <a:ln/>
        </p:spPr>
        <p:txBody>
          <a:bodyPr wrap="none" lIns="0" tIns="0" rIns="0" bIns="0" rtlCol="0" anchor="t"/>
          <a:lstStyle/>
          <a:p>
            <a:pPr marL="0" indent="0" algn="l">
              <a:lnSpc>
                <a:spcPts val="5300"/>
              </a:lnSpc>
              <a:buNone/>
            </a:pPr>
            <a:r>
              <a:rPr lang="en-US" sz="4200" dirty="0">
                <a:solidFill>
                  <a:srgbClr val="DDDDDD"/>
                </a:solidFill>
                <a:latin typeface="Mona Sans Semi Bold" pitchFamily="34" charset="0"/>
                <a:ea typeface="Mona Sans Semi Bold" pitchFamily="34" charset="-122"/>
                <a:cs typeface="Mona Sans Semi Bold" pitchFamily="34" charset="-120"/>
              </a:rPr>
              <a:t>Technical Architecture</a:t>
            </a:r>
            <a:endParaRPr lang="en-US" sz="4200" dirty="0"/>
          </a:p>
        </p:txBody>
      </p:sp>
      <p:pic>
        <p:nvPicPr>
          <p:cNvPr id="4" name="Image 1" descr="preencoded.png"/>
          <p:cNvPicPr>
            <a:picLocks noChangeAspect="1"/>
          </p:cNvPicPr>
          <p:nvPr/>
        </p:nvPicPr>
        <p:blipFill>
          <a:blip r:embed="rId4"/>
          <a:stretch>
            <a:fillRect/>
          </a:stretch>
        </p:blipFill>
        <p:spPr>
          <a:xfrm>
            <a:off x="6280190" y="1716643"/>
            <a:ext cx="1077397" cy="1930956"/>
          </a:xfrm>
          <a:prstGeom prst="rect">
            <a:avLst/>
          </a:prstGeom>
        </p:spPr>
      </p:pic>
      <p:sp>
        <p:nvSpPr>
          <p:cNvPr id="5" name="Text 1"/>
          <p:cNvSpPr/>
          <p:nvPr/>
        </p:nvSpPr>
        <p:spPr>
          <a:xfrm>
            <a:off x="7572970" y="1932027"/>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8F8F8F"/>
                </a:solidFill>
                <a:latin typeface="Mona Sans Semi Bold" pitchFamily="34" charset="0"/>
                <a:ea typeface="Mona Sans Semi Bold" pitchFamily="34" charset="-122"/>
                <a:cs typeface="Mona Sans Semi Bold" pitchFamily="34" charset="-120"/>
              </a:rPr>
              <a:t>Start Page Layer</a:t>
            </a:r>
            <a:endParaRPr lang="en-US" sz="2100" dirty="0"/>
          </a:p>
        </p:txBody>
      </p:sp>
      <p:sp>
        <p:nvSpPr>
          <p:cNvPr id="6" name="Text 2"/>
          <p:cNvSpPr/>
          <p:nvPr/>
        </p:nvSpPr>
        <p:spPr>
          <a:xfrm>
            <a:off x="7572970" y="2397800"/>
            <a:ext cx="6263640" cy="1034415"/>
          </a:xfrm>
          <a:prstGeom prst="rect">
            <a:avLst/>
          </a:prstGeom>
          <a:noFill/>
          <a:ln/>
        </p:spPr>
        <p:txBody>
          <a:bodyPr wrap="square" lIns="0" tIns="0" rIns="0" bIns="0" rtlCol="0" anchor="t"/>
          <a:lstStyle/>
          <a:p>
            <a:pPr marL="0" indent="0" algn="l">
              <a:lnSpc>
                <a:spcPts val="2700"/>
              </a:lnSpc>
              <a:buNone/>
            </a:pPr>
            <a:r>
              <a:rPr lang="en-US" sz="1650" dirty="0">
                <a:solidFill>
                  <a:srgbClr val="8F8F8F"/>
                </a:solidFill>
                <a:latin typeface="Funnel Sans" pitchFamily="34" charset="0"/>
                <a:ea typeface="Funnel Sans" pitchFamily="34" charset="-122"/>
                <a:cs typeface="Funnel Sans" pitchFamily="34" charset="-120"/>
              </a:rPr>
              <a:t>Cosmic background with glowing typography, team branding, and an animated "Begin" button featuring neon styling and hover effects that link to the main selector</a:t>
            </a:r>
            <a:endParaRPr lang="en-US" sz="1650" dirty="0"/>
          </a:p>
        </p:txBody>
      </p:sp>
      <p:pic>
        <p:nvPicPr>
          <p:cNvPr id="7" name="Image 2" descr="preencoded.png"/>
          <p:cNvPicPr>
            <a:picLocks noChangeAspect="1"/>
          </p:cNvPicPr>
          <p:nvPr/>
        </p:nvPicPr>
        <p:blipFill>
          <a:blip r:embed="rId5"/>
          <a:stretch>
            <a:fillRect/>
          </a:stretch>
        </p:blipFill>
        <p:spPr>
          <a:xfrm>
            <a:off x="6280190" y="3647599"/>
            <a:ext cx="1077397" cy="1930956"/>
          </a:xfrm>
          <a:prstGeom prst="rect">
            <a:avLst/>
          </a:prstGeom>
        </p:spPr>
      </p:pic>
      <p:sp>
        <p:nvSpPr>
          <p:cNvPr id="8" name="Text 3"/>
          <p:cNvSpPr/>
          <p:nvPr/>
        </p:nvSpPr>
        <p:spPr>
          <a:xfrm>
            <a:off x="7572970" y="3862983"/>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8F8F8F"/>
                </a:solidFill>
                <a:latin typeface="Mona Sans Semi Bold" pitchFamily="34" charset="0"/>
                <a:ea typeface="Mona Sans Semi Bold" pitchFamily="34" charset="-122"/>
                <a:cs typeface="Mona Sans Semi Bold" pitchFamily="34" charset="-120"/>
              </a:rPr>
              <a:t>Gallery Engine</a:t>
            </a:r>
            <a:endParaRPr lang="en-US" sz="2100" dirty="0"/>
          </a:p>
        </p:txBody>
      </p:sp>
      <p:sp>
        <p:nvSpPr>
          <p:cNvPr id="9" name="Text 4"/>
          <p:cNvSpPr/>
          <p:nvPr/>
        </p:nvSpPr>
        <p:spPr>
          <a:xfrm>
            <a:off x="7572970" y="4328755"/>
            <a:ext cx="6263640" cy="1034415"/>
          </a:xfrm>
          <a:prstGeom prst="rect">
            <a:avLst/>
          </a:prstGeom>
          <a:noFill/>
          <a:ln/>
        </p:spPr>
        <p:txBody>
          <a:bodyPr wrap="square" lIns="0" tIns="0" rIns="0" bIns="0" rtlCol="0" anchor="t"/>
          <a:lstStyle/>
          <a:p>
            <a:pPr marL="0" indent="0" algn="l">
              <a:lnSpc>
                <a:spcPts val="2700"/>
              </a:lnSpc>
              <a:buNone/>
            </a:pPr>
            <a:r>
              <a:rPr lang="en-US" sz="1650" dirty="0">
                <a:solidFill>
                  <a:srgbClr val="8F8F8F"/>
                </a:solidFill>
                <a:latin typeface="Funnel Sans" pitchFamily="34" charset="0"/>
                <a:ea typeface="Funnel Sans" pitchFamily="34" charset="-122"/>
                <a:cs typeface="Funnel Sans" pitchFamily="34" charset="-120"/>
              </a:rPr>
              <a:t>8-planet horizontal gallery with dynamic card generation, smooth arrow-based scrolling, and click handlers that navigate to individual planet detail pages</a:t>
            </a:r>
            <a:endParaRPr lang="en-US" sz="1650" dirty="0"/>
          </a:p>
        </p:txBody>
      </p:sp>
      <p:pic>
        <p:nvPicPr>
          <p:cNvPr id="10" name="Image 3" descr="preencoded.png"/>
          <p:cNvPicPr>
            <a:picLocks noChangeAspect="1"/>
          </p:cNvPicPr>
          <p:nvPr/>
        </p:nvPicPr>
        <p:blipFill>
          <a:blip r:embed="rId6"/>
          <a:stretch>
            <a:fillRect/>
          </a:stretch>
        </p:blipFill>
        <p:spPr>
          <a:xfrm>
            <a:off x="6280190" y="5578554"/>
            <a:ext cx="1077397" cy="1930956"/>
          </a:xfrm>
          <a:prstGeom prst="rect">
            <a:avLst/>
          </a:prstGeom>
        </p:spPr>
      </p:pic>
      <p:sp>
        <p:nvSpPr>
          <p:cNvPr id="11" name="Text 5"/>
          <p:cNvSpPr/>
          <p:nvPr/>
        </p:nvSpPr>
        <p:spPr>
          <a:xfrm>
            <a:off x="7572970" y="5793938"/>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8F8F8F"/>
                </a:solidFill>
                <a:latin typeface="Mona Sans Semi Bold" pitchFamily="34" charset="0"/>
                <a:ea typeface="Mona Sans Semi Bold" pitchFamily="34" charset="-122"/>
                <a:cs typeface="Mona Sans Semi Bold" pitchFamily="34" charset="-120"/>
              </a:rPr>
              <a:t>Style &amp; Interaction</a:t>
            </a:r>
            <a:endParaRPr lang="en-US" sz="2100" dirty="0"/>
          </a:p>
        </p:txBody>
      </p:sp>
      <p:sp>
        <p:nvSpPr>
          <p:cNvPr id="12" name="Text 6"/>
          <p:cNvSpPr/>
          <p:nvPr/>
        </p:nvSpPr>
        <p:spPr>
          <a:xfrm>
            <a:off x="7572970" y="6259711"/>
            <a:ext cx="6263640" cy="1034415"/>
          </a:xfrm>
          <a:prstGeom prst="rect">
            <a:avLst/>
          </a:prstGeom>
          <a:noFill/>
          <a:ln/>
        </p:spPr>
        <p:txBody>
          <a:bodyPr wrap="square" lIns="0" tIns="0" rIns="0" bIns="0" rtlCol="0" anchor="t"/>
          <a:lstStyle/>
          <a:p>
            <a:pPr marL="0" indent="0" algn="l">
              <a:lnSpc>
                <a:spcPts val="2700"/>
              </a:lnSpc>
              <a:buNone/>
            </a:pPr>
            <a:r>
              <a:rPr lang="en-US" sz="1650" dirty="0">
                <a:solidFill>
                  <a:srgbClr val="8F8F8F"/>
                </a:solidFill>
                <a:latin typeface="Funnel Sans" pitchFamily="34" charset="0"/>
                <a:ea typeface="Funnel Sans" pitchFamily="34" charset="-122"/>
                <a:cs typeface="Funnel Sans" pitchFamily="34" charset="-120"/>
              </a:rPr>
              <a:t>CSS manages fonts, shadows, spacing, colors, and animations while JavaScript handles dynamic rendering, scroll behavior, and navigation logic</a:t>
            </a:r>
            <a:endParaRPr lang="en-US" sz="1650" dirty="0"/>
          </a:p>
        </p:txBody>
      </p:sp>
      <p:sp>
        <p:nvSpPr>
          <p:cNvPr id="13" name="Rectangle 12">
            <a:extLst>
              <a:ext uri="{FF2B5EF4-FFF2-40B4-BE49-F238E27FC236}">
                <a16:creationId xmlns:a16="http://schemas.microsoft.com/office/drawing/2014/main" id="{37C2356F-1CD5-1D07-8C0F-BE7A3DD1D580}"/>
              </a:ext>
            </a:extLst>
          </p:cNvPr>
          <p:cNvSpPr/>
          <p:nvPr/>
        </p:nvSpPr>
        <p:spPr>
          <a:xfrm>
            <a:off x="12612029" y="7437863"/>
            <a:ext cx="1929161" cy="702527"/>
          </a:xfrm>
          <a:prstGeom prst="rect">
            <a:avLst/>
          </a:prstGeom>
          <a:solidFill>
            <a:srgbClr val="1917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95360" y="0"/>
            <a:ext cx="6035040" cy="8229600"/>
          </a:xfrm>
          <a:prstGeom prst="rect">
            <a:avLst/>
          </a:prstGeom>
        </p:spPr>
      </p:pic>
      <p:sp>
        <p:nvSpPr>
          <p:cNvPr id="3" name="Text 0"/>
          <p:cNvSpPr/>
          <p:nvPr/>
        </p:nvSpPr>
        <p:spPr>
          <a:xfrm>
            <a:off x="793790" y="767596"/>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DDDDDD"/>
                </a:solidFill>
                <a:latin typeface="Mona Sans Semi Bold" pitchFamily="34" charset="0"/>
                <a:ea typeface="Mona Sans Semi Bold" pitchFamily="34" charset="-122"/>
                <a:cs typeface="Mona Sans Semi Bold" pitchFamily="34" charset="-120"/>
              </a:rPr>
              <a:t>Code Foundation</a:t>
            </a:r>
            <a:endParaRPr lang="en-US" sz="3550" dirty="0"/>
          </a:p>
        </p:txBody>
      </p:sp>
      <p:sp>
        <p:nvSpPr>
          <p:cNvPr id="4" name="Text 1"/>
          <p:cNvSpPr/>
          <p:nvPr/>
        </p:nvSpPr>
        <p:spPr>
          <a:xfrm>
            <a:off x="793790" y="1788200"/>
            <a:ext cx="2196941" cy="340162"/>
          </a:xfrm>
          <a:prstGeom prst="rect">
            <a:avLst/>
          </a:prstGeom>
          <a:noFill/>
          <a:ln/>
        </p:spPr>
        <p:txBody>
          <a:bodyPr wrap="none" lIns="0" tIns="0" rIns="0" bIns="0" rtlCol="0" anchor="t"/>
          <a:lstStyle/>
          <a:p>
            <a:pPr marL="0" indent="0" algn="l">
              <a:lnSpc>
                <a:spcPts val="2650"/>
              </a:lnSpc>
              <a:buNone/>
            </a:pPr>
            <a:r>
              <a:rPr lang="en-US" sz="2100" dirty="0">
                <a:solidFill>
                  <a:srgbClr val="DDDDDD"/>
                </a:solidFill>
                <a:latin typeface="Mona Sans Semi Bold" pitchFamily="34" charset="0"/>
                <a:ea typeface="Mona Sans Semi Bold" pitchFamily="34" charset="-122"/>
                <a:cs typeface="Mona Sans Semi Bold" pitchFamily="34" charset="-120"/>
              </a:rPr>
              <a:t>HTML Syntax</a:t>
            </a:r>
            <a:endParaRPr lang="en-US" sz="2100" dirty="0"/>
          </a:p>
        </p:txBody>
      </p:sp>
      <p:sp>
        <p:nvSpPr>
          <p:cNvPr id="5" name="Text 2"/>
          <p:cNvSpPr/>
          <p:nvPr/>
        </p:nvSpPr>
        <p:spPr>
          <a:xfrm>
            <a:off x="793790" y="2309813"/>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&lt;html&gt;</a:t>
            </a:r>
            <a:r>
              <a:rPr lang="en-US" sz="1400" dirty="0">
                <a:solidFill>
                  <a:srgbClr val="8F8F8F"/>
                </a:solidFill>
                <a:latin typeface="Funnel Sans" pitchFamily="34" charset="0"/>
                <a:ea typeface="Funnel Sans" pitchFamily="34" charset="-122"/>
                <a:cs typeface="Funnel Sans" pitchFamily="34" charset="-120"/>
              </a:rPr>
              <a:t> – document root</a:t>
            </a:r>
            <a:endParaRPr lang="en-US" sz="1400" dirty="0"/>
          </a:p>
        </p:txBody>
      </p:sp>
      <p:sp>
        <p:nvSpPr>
          <p:cNvPr id="6" name="Text 3"/>
          <p:cNvSpPr/>
          <p:nvPr/>
        </p:nvSpPr>
        <p:spPr>
          <a:xfrm>
            <a:off x="793790" y="2953822"/>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&lt;head&gt;</a:t>
            </a:r>
            <a:r>
              <a:rPr lang="en-US" sz="1400" dirty="0">
                <a:solidFill>
                  <a:srgbClr val="8F8F8F"/>
                </a:solidFill>
                <a:latin typeface="Funnel Sans" pitchFamily="34" charset="0"/>
                <a:ea typeface="Funnel Sans" pitchFamily="34" charset="-122"/>
                <a:cs typeface="Funnel Sans" pitchFamily="34" charset="-120"/>
              </a:rPr>
              <a:t> – metadata container</a:t>
            </a:r>
            <a:endParaRPr lang="en-US" sz="1400" dirty="0"/>
          </a:p>
        </p:txBody>
      </p:sp>
      <p:sp>
        <p:nvSpPr>
          <p:cNvPr id="7" name="Text 4"/>
          <p:cNvSpPr/>
          <p:nvPr/>
        </p:nvSpPr>
        <p:spPr>
          <a:xfrm>
            <a:off x="793790" y="3597831"/>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&lt;body&gt;</a:t>
            </a:r>
            <a:r>
              <a:rPr lang="en-US" sz="1400" dirty="0">
                <a:solidFill>
                  <a:srgbClr val="8F8F8F"/>
                </a:solidFill>
                <a:latin typeface="Funnel Sans" pitchFamily="34" charset="0"/>
                <a:ea typeface="Funnel Sans" pitchFamily="34" charset="-122"/>
                <a:cs typeface="Funnel Sans" pitchFamily="34" charset="-120"/>
              </a:rPr>
              <a:t> – visible content</a:t>
            </a:r>
            <a:endParaRPr lang="en-US" sz="1400" dirty="0"/>
          </a:p>
        </p:txBody>
      </p:sp>
      <p:sp>
        <p:nvSpPr>
          <p:cNvPr id="8" name="Text 5"/>
          <p:cNvSpPr/>
          <p:nvPr/>
        </p:nvSpPr>
        <p:spPr>
          <a:xfrm>
            <a:off x="793790" y="4241840"/>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&lt;h1&gt;, &lt;p&gt;</a:t>
            </a:r>
            <a:r>
              <a:rPr lang="en-US" sz="1400" dirty="0">
                <a:solidFill>
                  <a:srgbClr val="8F8F8F"/>
                </a:solidFill>
                <a:latin typeface="Funnel Sans" pitchFamily="34" charset="0"/>
                <a:ea typeface="Funnel Sans" pitchFamily="34" charset="-122"/>
                <a:cs typeface="Funnel Sans" pitchFamily="34" charset="-120"/>
              </a:rPr>
              <a:t> – text elements</a:t>
            </a:r>
            <a:endParaRPr lang="en-US" sz="1400" dirty="0"/>
          </a:p>
        </p:txBody>
      </p:sp>
      <p:sp>
        <p:nvSpPr>
          <p:cNvPr id="9" name="Text 6"/>
          <p:cNvSpPr/>
          <p:nvPr/>
        </p:nvSpPr>
        <p:spPr>
          <a:xfrm>
            <a:off x="793790" y="4885849"/>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&lt;button&gt;</a:t>
            </a:r>
            <a:r>
              <a:rPr lang="en-US" sz="1400" dirty="0">
                <a:solidFill>
                  <a:srgbClr val="8F8F8F"/>
                </a:solidFill>
                <a:latin typeface="Funnel Sans" pitchFamily="34" charset="0"/>
                <a:ea typeface="Funnel Sans" pitchFamily="34" charset="-122"/>
                <a:cs typeface="Funnel Sans" pitchFamily="34" charset="-120"/>
              </a:rPr>
              <a:t> – interactive control</a:t>
            </a:r>
            <a:endParaRPr lang="en-US" sz="1400" dirty="0"/>
          </a:p>
        </p:txBody>
      </p:sp>
      <p:sp>
        <p:nvSpPr>
          <p:cNvPr id="10" name="Text 7"/>
          <p:cNvSpPr/>
          <p:nvPr/>
        </p:nvSpPr>
        <p:spPr>
          <a:xfrm>
            <a:off x="793790" y="5529858"/>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&lt;div&gt;</a:t>
            </a:r>
            <a:r>
              <a:rPr lang="en-US" sz="1400" dirty="0">
                <a:solidFill>
                  <a:srgbClr val="8F8F8F"/>
                </a:solidFill>
                <a:latin typeface="Funnel Sans" pitchFamily="34" charset="0"/>
                <a:ea typeface="Funnel Sans" pitchFamily="34" charset="-122"/>
                <a:cs typeface="Funnel Sans" pitchFamily="34" charset="-120"/>
              </a:rPr>
              <a:t> – content grouping</a:t>
            </a:r>
            <a:endParaRPr lang="en-US" sz="1400" dirty="0"/>
          </a:p>
        </p:txBody>
      </p:sp>
      <p:sp>
        <p:nvSpPr>
          <p:cNvPr id="11" name="Text 8"/>
          <p:cNvSpPr/>
          <p:nvPr/>
        </p:nvSpPr>
        <p:spPr>
          <a:xfrm>
            <a:off x="793790" y="6173867"/>
            <a:ext cx="2196941" cy="2902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&lt;img&gt;</a:t>
            </a:r>
            <a:r>
              <a:rPr lang="en-US" sz="1400" dirty="0">
                <a:solidFill>
                  <a:srgbClr val="8F8F8F"/>
                </a:solidFill>
                <a:latin typeface="Funnel Sans" pitchFamily="34" charset="0"/>
                <a:ea typeface="Funnel Sans" pitchFamily="34" charset="-122"/>
                <a:cs typeface="Funnel Sans" pitchFamily="34" charset="-120"/>
              </a:rPr>
              <a:t> – image display</a:t>
            </a:r>
            <a:endParaRPr lang="en-US" sz="1400" dirty="0"/>
          </a:p>
        </p:txBody>
      </p:sp>
      <p:sp>
        <p:nvSpPr>
          <p:cNvPr id="12" name="Text 9"/>
          <p:cNvSpPr/>
          <p:nvPr/>
        </p:nvSpPr>
        <p:spPr>
          <a:xfrm>
            <a:off x="793790" y="6527602"/>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&lt;script&gt;</a:t>
            </a:r>
            <a:r>
              <a:rPr lang="en-US" sz="1400" dirty="0">
                <a:solidFill>
                  <a:srgbClr val="8F8F8F"/>
                </a:solidFill>
                <a:latin typeface="Funnel Sans" pitchFamily="34" charset="0"/>
                <a:ea typeface="Funnel Sans" pitchFamily="34" charset="-122"/>
                <a:cs typeface="Funnel Sans" pitchFamily="34" charset="-120"/>
              </a:rPr>
              <a:t> – JavaScript embed</a:t>
            </a:r>
            <a:endParaRPr lang="en-US" sz="1400" dirty="0"/>
          </a:p>
        </p:txBody>
      </p:sp>
      <p:sp>
        <p:nvSpPr>
          <p:cNvPr id="13" name="Text 10"/>
          <p:cNvSpPr/>
          <p:nvPr/>
        </p:nvSpPr>
        <p:spPr>
          <a:xfrm>
            <a:off x="3441025" y="1788200"/>
            <a:ext cx="2196941" cy="340162"/>
          </a:xfrm>
          <a:prstGeom prst="rect">
            <a:avLst/>
          </a:prstGeom>
          <a:noFill/>
          <a:ln/>
        </p:spPr>
        <p:txBody>
          <a:bodyPr wrap="none" lIns="0" tIns="0" rIns="0" bIns="0" rtlCol="0" anchor="t"/>
          <a:lstStyle/>
          <a:p>
            <a:pPr marL="0" indent="0" algn="l">
              <a:lnSpc>
                <a:spcPts val="2650"/>
              </a:lnSpc>
              <a:buNone/>
            </a:pPr>
            <a:r>
              <a:rPr lang="en-US" sz="2100" dirty="0">
                <a:solidFill>
                  <a:srgbClr val="DDDDDD"/>
                </a:solidFill>
                <a:latin typeface="Mona Sans Semi Bold" pitchFamily="34" charset="0"/>
                <a:ea typeface="Mona Sans Semi Bold" pitchFamily="34" charset="-122"/>
                <a:cs typeface="Mona Sans Semi Bold" pitchFamily="34" charset="-120"/>
              </a:rPr>
              <a:t>CSS Syntax</a:t>
            </a:r>
            <a:endParaRPr lang="en-US" sz="2100" dirty="0"/>
          </a:p>
        </p:txBody>
      </p:sp>
      <p:sp>
        <p:nvSpPr>
          <p:cNvPr id="14" name="Text 11"/>
          <p:cNvSpPr/>
          <p:nvPr/>
        </p:nvSpPr>
        <p:spPr>
          <a:xfrm>
            <a:off x="3441025" y="2309813"/>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font-family</a:t>
            </a:r>
            <a:r>
              <a:rPr lang="en-US" sz="1400" dirty="0">
                <a:solidFill>
                  <a:srgbClr val="8F8F8F"/>
                </a:solidFill>
                <a:latin typeface="Funnel Sans" pitchFamily="34" charset="0"/>
                <a:ea typeface="Funnel Sans" pitchFamily="34" charset="-122"/>
                <a:cs typeface="Funnel Sans" pitchFamily="34" charset="-120"/>
              </a:rPr>
              <a:t> – typography</a:t>
            </a:r>
            <a:endParaRPr lang="en-US" sz="1400" dirty="0"/>
          </a:p>
        </p:txBody>
      </p:sp>
      <p:sp>
        <p:nvSpPr>
          <p:cNvPr id="15" name="Text 12"/>
          <p:cNvSpPr/>
          <p:nvPr/>
        </p:nvSpPr>
        <p:spPr>
          <a:xfrm>
            <a:off x="3441025" y="2953822"/>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background</a:t>
            </a:r>
            <a:r>
              <a:rPr lang="en-US" sz="1400" dirty="0">
                <a:solidFill>
                  <a:srgbClr val="8F8F8F"/>
                </a:solidFill>
                <a:latin typeface="Funnel Sans" pitchFamily="34" charset="0"/>
                <a:ea typeface="Funnel Sans" pitchFamily="34" charset="-122"/>
                <a:cs typeface="Funnel Sans" pitchFamily="34" charset="-120"/>
              </a:rPr>
              <a:t> – image styling</a:t>
            </a:r>
            <a:endParaRPr lang="en-US" sz="1400" dirty="0"/>
          </a:p>
        </p:txBody>
      </p:sp>
      <p:sp>
        <p:nvSpPr>
          <p:cNvPr id="16" name="Text 13"/>
          <p:cNvSpPr/>
          <p:nvPr/>
        </p:nvSpPr>
        <p:spPr>
          <a:xfrm>
            <a:off x="3441025" y="3597831"/>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text-shadow</a:t>
            </a:r>
            <a:r>
              <a:rPr lang="en-US" sz="1400" dirty="0">
                <a:solidFill>
                  <a:srgbClr val="8F8F8F"/>
                </a:solidFill>
                <a:latin typeface="Funnel Sans" pitchFamily="34" charset="0"/>
                <a:ea typeface="Funnel Sans" pitchFamily="34" charset="-122"/>
                <a:cs typeface="Funnel Sans" pitchFamily="34" charset="-120"/>
              </a:rPr>
              <a:t> – glow effects</a:t>
            </a:r>
            <a:endParaRPr lang="en-US" sz="1400" dirty="0"/>
          </a:p>
        </p:txBody>
      </p:sp>
      <p:sp>
        <p:nvSpPr>
          <p:cNvPr id="17" name="Text 14"/>
          <p:cNvSpPr/>
          <p:nvPr/>
        </p:nvSpPr>
        <p:spPr>
          <a:xfrm>
            <a:off x="3441025" y="4241840"/>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box-shadow</a:t>
            </a:r>
            <a:r>
              <a:rPr lang="en-US" sz="1400" dirty="0">
                <a:solidFill>
                  <a:srgbClr val="8F8F8F"/>
                </a:solidFill>
                <a:latin typeface="Funnel Sans" pitchFamily="34" charset="0"/>
                <a:ea typeface="Funnel Sans" pitchFamily="34" charset="-122"/>
                <a:cs typeface="Funnel Sans" pitchFamily="34" charset="-120"/>
              </a:rPr>
              <a:t> – depth creation</a:t>
            </a:r>
            <a:endParaRPr lang="en-US" sz="1400" dirty="0"/>
          </a:p>
        </p:txBody>
      </p:sp>
      <p:sp>
        <p:nvSpPr>
          <p:cNvPr id="18" name="Text 15"/>
          <p:cNvSpPr/>
          <p:nvPr/>
        </p:nvSpPr>
        <p:spPr>
          <a:xfrm>
            <a:off x="3441025" y="4885849"/>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border-radius</a:t>
            </a:r>
            <a:r>
              <a:rPr lang="en-US" sz="1400" dirty="0">
                <a:solidFill>
                  <a:srgbClr val="8F8F8F"/>
                </a:solidFill>
                <a:latin typeface="Funnel Sans" pitchFamily="34" charset="0"/>
                <a:ea typeface="Funnel Sans" pitchFamily="34" charset="-122"/>
                <a:cs typeface="Funnel Sans" pitchFamily="34" charset="-120"/>
              </a:rPr>
              <a:t> – corner rounding</a:t>
            </a:r>
            <a:endParaRPr lang="en-US" sz="1400" dirty="0"/>
          </a:p>
        </p:txBody>
      </p:sp>
      <p:sp>
        <p:nvSpPr>
          <p:cNvPr id="19" name="Text 16"/>
          <p:cNvSpPr/>
          <p:nvPr/>
        </p:nvSpPr>
        <p:spPr>
          <a:xfrm>
            <a:off x="3441025" y="5529858"/>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display: flex</a:t>
            </a:r>
            <a:r>
              <a:rPr lang="en-US" sz="1400" dirty="0">
                <a:solidFill>
                  <a:srgbClr val="8F8F8F"/>
                </a:solidFill>
                <a:latin typeface="Funnel Sans" pitchFamily="34" charset="0"/>
                <a:ea typeface="Funnel Sans" pitchFamily="34" charset="-122"/>
                <a:cs typeface="Funnel Sans" pitchFamily="34" charset="-120"/>
              </a:rPr>
              <a:t> – layout system</a:t>
            </a:r>
            <a:endParaRPr lang="en-US" sz="1400" dirty="0"/>
          </a:p>
        </p:txBody>
      </p:sp>
      <p:sp>
        <p:nvSpPr>
          <p:cNvPr id="20" name="Text 17"/>
          <p:cNvSpPr/>
          <p:nvPr/>
        </p:nvSpPr>
        <p:spPr>
          <a:xfrm>
            <a:off x="3441025" y="6173867"/>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transition</a:t>
            </a:r>
            <a:r>
              <a:rPr lang="en-US" sz="1400" dirty="0">
                <a:solidFill>
                  <a:srgbClr val="8F8F8F"/>
                </a:solidFill>
                <a:latin typeface="Funnel Sans" pitchFamily="34" charset="0"/>
                <a:ea typeface="Funnel Sans" pitchFamily="34" charset="-122"/>
                <a:cs typeface="Funnel Sans" pitchFamily="34" charset="-120"/>
              </a:rPr>
              <a:t> – smooth animations</a:t>
            </a:r>
            <a:endParaRPr lang="en-US" sz="1400" dirty="0"/>
          </a:p>
        </p:txBody>
      </p:sp>
      <p:sp>
        <p:nvSpPr>
          <p:cNvPr id="21" name="Text 18"/>
          <p:cNvSpPr/>
          <p:nvPr/>
        </p:nvSpPr>
        <p:spPr>
          <a:xfrm>
            <a:off x="3441025" y="6817876"/>
            <a:ext cx="219694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cursor</a:t>
            </a:r>
            <a:r>
              <a:rPr lang="en-US" sz="1400" dirty="0">
                <a:solidFill>
                  <a:srgbClr val="8F8F8F"/>
                </a:solidFill>
                <a:latin typeface="Funnel Sans" pitchFamily="34" charset="0"/>
                <a:ea typeface="Funnel Sans" pitchFamily="34" charset="-122"/>
                <a:cs typeface="Funnel Sans" pitchFamily="34" charset="-120"/>
              </a:rPr>
              <a:t> – interaction feedback</a:t>
            </a:r>
            <a:endParaRPr lang="en-US" sz="1400" dirty="0"/>
          </a:p>
        </p:txBody>
      </p:sp>
      <p:sp>
        <p:nvSpPr>
          <p:cNvPr id="22" name="Text 19"/>
          <p:cNvSpPr/>
          <p:nvPr/>
        </p:nvSpPr>
        <p:spPr>
          <a:xfrm>
            <a:off x="6088261" y="1788200"/>
            <a:ext cx="2276951" cy="680323"/>
          </a:xfrm>
          <a:prstGeom prst="rect">
            <a:avLst/>
          </a:prstGeom>
          <a:noFill/>
          <a:ln/>
        </p:spPr>
        <p:txBody>
          <a:bodyPr wrap="square" lIns="0" tIns="0" rIns="0" bIns="0" rtlCol="0" anchor="t"/>
          <a:lstStyle/>
          <a:p>
            <a:pPr marL="0" indent="0" algn="l">
              <a:lnSpc>
                <a:spcPts val="2650"/>
              </a:lnSpc>
              <a:buNone/>
            </a:pPr>
            <a:r>
              <a:rPr lang="en-US" sz="2100" dirty="0">
                <a:solidFill>
                  <a:srgbClr val="DDDDDD"/>
                </a:solidFill>
                <a:latin typeface="Mona Sans Semi Bold" pitchFamily="34" charset="0"/>
                <a:ea typeface="Mona Sans Semi Bold" pitchFamily="34" charset="-122"/>
                <a:cs typeface="Mona Sans Semi Bold" pitchFamily="34" charset="-120"/>
              </a:rPr>
              <a:t>JavaScript Syntax</a:t>
            </a:r>
            <a:endParaRPr lang="en-US" sz="2100" dirty="0"/>
          </a:p>
        </p:txBody>
      </p:sp>
      <p:sp>
        <p:nvSpPr>
          <p:cNvPr id="23" name="Text 20"/>
          <p:cNvSpPr/>
          <p:nvPr/>
        </p:nvSpPr>
        <p:spPr>
          <a:xfrm>
            <a:off x="6088261" y="2649974"/>
            <a:ext cx="227695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const</a:t>
            </a:r>
            <a:r>
              <a:rPr lang="en-US" sz="1400" dirty="0">
                <a:solidFill>
                  <a:srgbClr val="8F8F8F"/>
                </a:solidFill>
                <a:latin typeface="Funnel Sans" pitchFamily="34" charset="0"/>
                <a:ea typeface="Funnel Sans" pitchFamily="34" charset="-122"/>
                <a:cs typeface="Funnel Sans" pitchFamily="34" charset="-120"/>
              </a:rPr>
              <a:t> – variable declaration</a:t>
            </a:r>
            <a:endParaRPr lang="en-US" sz="1400" dirty="0"/>
          </a:p>
        </p:txBody>
      </p:sp>
      <p:sp>
        <p:nvSpPr>
          <p:cNvPr id="24" name="Text 21"/>
          <p:cNvSpPr/>
          <p:nvPr/>
        </p:nvSpPr>
        <p:spPr>
          <a:xfrm>
            <a:off x="6088261" y="3293983"/>
            <a:ext cx="227695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getElementById</a:t>
            </a:r>
            <a:r>
              <a:rPr lang="en-US" sz="1400" dirty="0">
                <a:solidFill>
                  <a:srgbClr val="8F8F8F"/>
                </a:solidFill>
                <a:latin typeface="Funnel Sans" pitchFamily="34" charset="0"/>
                <a:ea typeface="Funnel Sans" pitchFamily="34" charset="-122"/>
                <a:cs typeface="Funnel Sans" pitchFamily="34" charset="-120"/>
              </a:rPr>
              <a:t> – element selection</a:t>
            </a:r>
            <a:endParaRPr lang="en-US" sz="1400" dirty="0"/>
          </a:p>
        </p:txBody>
      </p:sp>
      <p:sp>
        <p:nvSpPr>
          <p:cNvPr id="25" name="Text 22"/>
          <p:cNvSpPr/>
          <p:nvPr/>
        </p:nvSpPr>
        <p:spPr>
          <a:xfrm>
            <a:off x="6088261" y="3937992"/>
            <a:ext cx="227695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createElement</a:t>
            </a:r>
            <a:r>
              <a:rPr lang="en-US" sz="1400" dirty="0">
                <a:solidFill>
                  <a:srgbClr val="8F8F8F"/>
                </a:solidFill>
                <a:latin typeface="Funnel Sans" pitchFamily="34" charset="0"/>
                <a:ea typeface="Funnel Sans" pitchFamily="34" charset="-122"/>
                <a:cs typeface="Funnel Sans" pitchFamily="34" charset="-120"/>
              </a:rPr>
              <a:t> – DOM generation</a:t>
            </a:r>
            <a:endParaRPr lang="en-US" sz="1400" dirty="0"/>
          </a:p>
        </p:txBody>
      </p:sp>
      <p:sp>
        <p:nvSpPr>
          <p:cNvPr id="26" name="Text 23"/>
          <p:cNvSpPr/>
          <p:nvPr/>
        </p:nvSpPr>
        <p:spPr>
          <a:xfrm>
            <a:off x="6088261" y="4582001"/>
            <a:ext cx="227695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addEventListener</a:t>
            </a:r>
            <a:r>
              <a:rPr lang="en-US" sz="1400" dirty="0">
                <a:solidFill>
                  <a:srgbClr val="8F8F8F"/>
                </a:solidFill>
                <a:latin typeface="Funnel Sans" pitchFamily="34" charset="0"/>
                <a:ea typeface="Funnel Sans" pitchFamily="34" charset="-122"/>
                <a:cs typeface="Funnel Sans" pitchFamily="34" charset="-120"/>
              </a:rPr>
              <a:t> – event handling</a:t>
            </a:r>
            <a:endParaRPr lang="en-US" sz="1400" dirty="0"/>
          </a:p>
        </p:txBody>
      </p:sp>
      <p:sp>
        <p:nvSpPr>
          <p:cNvPr id="27" name="Text 24"/>
          <p:cNvSpPr/>
          <p:nvPr/>
        </p:nvSpPr>
        <p:spPr>
          <a:xfrm>
            <a:off x="6088261" y="5226010"/>
            <a:ext cx="2276951" cy="2902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forEach</a:t>
            </a:r>
            <a:r>
              <a:rPr lang="en-US" sz="1400" dirty="0">
                <a:solidFill>
                  <a:srgbClr val="8F8F8F"/>
                </a:solidFill>
                <a:latin typeface="Funnel Sans" pitchFamily="34" charset="0"/>
                <a:ea typeface="Funnel Sans" pitchFamily="34" charset="-122"/>
                <a:cs typeface="Funnel Sans" pitchFamily="34" charset="-120"/>
              </a:rPr>
              <a:t> – array iteration</a:t>
            </a:r>
            <a:endParaRPr lang="en-US" sz="1400" dirty="0"/>
          </a:p>
        </p:txBody>
      </p:sp>
      <p:sp>
        <p:nvSpPr>
          <p:cNvPr id="28" name="Text 25"/>
          <p:cNvSpPr/>
          <p:nvPr/>
        </p:nvSpPr>
        <p:spPr>
          <a:xfrm>
            <a:off x="6088261" y="5579745"/>
            <a:ext cx="227695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window.open</a:t>
            </a:r>
            <a:r>
              <a:rPr lang="en-US" sz="1400" dirty="0">
                <a:solidFill>
                  <a:srgbClr val="8F8F8F"/>
                </a:solidFill>
                <a:latin typeface="Funnel Sans" pitchFamily="34" charset="0"/>
                <a:ea typeface="Funnel Sans" pitchFamily="34" charset="-122"/>
                <a:cs typeface="Funnel Sans" pitchFamily="34" charset="-120"/>
              </a:rPr>
              <a:t> – navigation</a:t>
            </a:r>
            <a:endParaRPr lang="en-US" sz="1400" dirty="0"/>
          </a:p>
        </p:txBody>
      </p:sp>
      <p:sp>
        <p:nvSpPr>
          <p:cNvPr id="29" name="Text 26"/>
          <p:cNvSpPr/>
          <p:nvPr/>
        </p:nvSpPr>
        <p:spPr>
          <a:xfrm>
            <a:off x="6088261" y="6223754"/>
            <a:ext cx="2276951"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8F8F8F"/>
                </a:solidFill>
                <a:highlight>
                  <a:srgbClr val="252323"/>
                </a:highlight>
                <a:latin typeface="Consolas" pitchFamily="34" charset="0"/>
                <a:ea typeface="Consolas" pitchFamily="34" charset="-122"/>
                <a:cs typeface="Consolas" pitchFamily="34" charset="-120"/>
              </a:rPr>
              <a:t>scrollBy</a:t>
            </a:r>
            <a:r>
              <a:rPr lang="en-US" sz="1400" dirty="0">
                <a:solidFill>
                  <a:srgbClr val="8F8F8F"/>
                </a:solidFill>
                <a:latin typeface="Funnel Sans" pitchFamily="34" charset="0"/>
                <a:ea typeface="Funnel Sans" pitchFamily="34" charset="-122"/>
                <a:cs typeface="Funnel Sans" pitchFamily="34" charset="-120"/>
              </a:rPr>
              <a:t> – smooth scrolling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958697"/>
            <a:ext cx="7439858" cy="708779"/>
          </a:xfrm>
          <a:prstGeom prst="rect">
            <a:avLst/>
          </a:prstGeom>
          <a:noFill/>
          <a:ln/>
        </p:spPr>
        <p:txBody>
          <a:bodyPr wrap="none" lIns="0" tIns="0" rIns="0" bIns="0" rtlCol="0" anchor="t"/>
          <a:lstStyle/>
          <a:p>
            <a:pPr marL="0" indent="0" algn="l">
              <a:lnSpc>
                <a:spcPts val="5550"/>
              </a:lnSpc>
              <a:buNone/>
            </a:pPr>
            <a:r>
              <a:rPr lang="en-US" sz="4450" dirty="0">
                <a:solidFill>
                  <a:srgbClr val="DDDDDD"/>
                </a:solidFill>
                <a:latin typeface="Mona Sans Semi Bold" pitchFamily="34" charset="0"/>
                <a:ea typeface="Mona Sans Semi Bold" pitchFamily="34" charset="-122"/>
                <a:cs typeface="Mona Sans Semi Bold" pitchFamily="34" charset="-120"/>
              </a:rPr>
              <a:t>Immersive User Experience</a:t>
            </a:r>
            <a:endParaRPr lang="en-US" sz="4450" dirty="0"/>
          </a:p>
        </p:txBody>
      </p:sp>
      <p:sp>
        <p:nvSpPr>
          <p:cNvPr id="3" name="Text 1"/>
          <p:cNvSpPr/>
          <p:nvPr/>
        </p:nvSpPr>
        <p:spPr>
          <a:xfrm>
            <a:off x="793790" y="33479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8F8F8F"/>
                </a:solidFill>
                <a:latin typeface="Mona Sans Semi Bold" pitchFamily="34" charset="0"/>
                <a:ea typeface="Mona Sans Semi Bold" pitchFamily="34" charset="-122"/>
                <a:cs typeface="Mona Sans Semi Bold" pitchFamily="34" charset="-120"/>
              </a:rPr>
              <a:t>Intuitive Navigation</a:t>
            </a:r>
            <a:endParaRPr lang="en-US" sz="2200" dirty="0"/>
          </a:p>
        </p:txBody>
      </p:sp>
      <p:sp>
        <p:nvSpPr>
          <p:cNvPr id="4" name="Text 2"/>
          <p:cNvSpPr/>
          <p:nvPr/>
        </p:nvSpPr>
        <p:spPr>
          <a:xfrm>
            <a:off x="793790" y="3838337"/>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Smooth scrolling through all 8 planets with </a:t>
            </a:r>
            <a:r>
              <a:rPr lang="en-US" sz="1750" dirty="0">
                <a:solidFill>
                  <a:srgbClr val="000000"/>
                </a:solidFill>
                <a:highlight>
                  <a:srgbClr val="E5E5E0"/>
                </a:highlight>
                <a:latin typeface="Funnel Sans" pitchFamily="34" charset="0"/>
              </a:rPr>
              <a:t>responsive arrow controls </a:t>
            </a:r>
            <a:r>
              <a:rPr lang="en-US" sz="1750" dirty="0">
                <a:solidFill>
                  <a:srgbClr val="8F8F8F"/>
                </a:solidFill>
                <a:latin typeface="Funnel Sans" pitchFamily="34" charset="0"/>
                <a:ea typeface="Funnel Sans" pitchFamily="34" charset="-122"/>
                <a:cs typeface="Funnel Sans" pitchFamily="34" charset="-120"/>
              </a:rPr>
              <a:t>makes exploration effortless and natural</a:t>
            </a:r>
            <a:endParaRPr lang="en-US" sz="1750" dirty="0"/>
          </a:p>
        </p:txBody>
      </p:sp>
      <p:sp>
        <p:nvSpPr>
          <p:cNvPr id="5" name="Text 3"/>
          <p:cNvSpPr/>
          <p:nvPr/>
        </p:nvSpPr>
        <p:spPr>
          <a:xfrm>
            <a:off x="5235893" y="33479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8F8F8F"/>
                </a:solidFill>
                <a:latin typeface="Mona Sans Semi Bold" pitchFamily="34" charset="0"/>
                <a:ea typeface="Mona Sans Semi Bold" pitchFamily="34" charset="-122"/>
                <a:cs typeface="Mona Sans Semi Bold" pitchFamily="34" charset="-120"/>
              </a:rPr>
              <a:t>Visual Feedback</a:t>
            </a:r>
            <a:endParaRPr lang="en-US" sz="2200" dirty="0"/>
          </a:p>
        </p:txBody>
      </p:sp>
      <p:sp>
        <p:nvSpPr>
          <p:cNvPr id="6" name="Text 4"/>
          <p:cNvSpPr/>
          <p:nvPr/>
        </p:nvSpPr>
        <p:spPr>
          <a:xfrm>
            <a:off x="5235893" y="3838337"/>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Hover effects create glowing highlights and 3D depth, providing immediate responsive feedback to user actions</a:t>
            </a:r>
            <a:endParaRPr lang="en-US" sz="1750" dirty="0"/>
          </a:p>
        </p:txBody>
      </p:sp>
      <p:sp>
        <p:nvSpPr>
          <p:cNvPr id="7" name="Text 5"/>
          <p:cNvSpPr/>
          <p:nvPr/>
        </p:nvSpPr>
        <p:spPr>
          <a:xfrm>
            <a:off x="9677995" y="33479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8F8F8F"/>
                </a:solidFill>
                <a:latin typeface="Mona Sans Semi Bold" pitchFamily="34" charset="0"/>
                <a:ea typeface="Mona Sans Semi Bold" pitchFamily="34" charset="-122"/>
                <a:cs typeface="Mona Sans Semi Bold" pitchFamily="34" charset="-120"/>
              </a:rPr>
              <a:t>Rich Content</a:t>
            </a:r>
            <a:endParaRPr lang="en-US" sz="2200" dirty="0"/>
          </a:p>
        </p:txBody>
      </p:sp>
      <p:sp>
        <p:nvSpPr>
          <p:cNvPr id="8" name="Text 6"/>
          <p:cNvSpPr/>
          <p:nvPr/>
        </p:nvSpPr>
        <p:spPr>
          <a:xfrm>
            <a:off x="9677995" y="3838337"/>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Click any planet to access detailed information pages filled with fascinating facts and stunning imagery</a:t>
            </a:r>
            <a:endParaRPr lang="en-US" sz="1750" dirty="0"/>
          </a:p>
        </p:txBody>
      </p:sp>
      <p:sp>
        <p:nvSpPr>
          <p:cNvPr id="9" name="Text 7"/>
          <p:cNvSpPr/>
          <p:nvPr/>
        </p:nvSpPr>
        <p:spPr>
          <a:xfrm>
            <a:off x="793790" y="5182195"/>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The Smart Planet Selector delivers a </a:t>
            </a:r>
            <a:r>
              <a:rPr lang="en-US" sz="1750" b="1" dirty="0">
                <a:solidFill>
                  <a:srgbClr val="D3C1B6"/>
                </a:solidFill>
                <a:latin typeface="Funnel Sans" pitchFamily="34" charset="0"/>
                <a:ea typeface="Funnel Sans" pitchFamily="34" charset="-122"/>
                <a:cs typeface="Funnel Sans" pitchFamily="34" charset="-120"/>
              </a:rPr>
              <a:t>fun, immersive, and interactive journey</a:t>
            </a:r>
            <a:r>
              <a:rPr lang="en-US" sz="1750" dirty="0">
                <a:solidFill>
                  <a:srgbClr val="8F8F8F"/>
                </a:solidFill>
                <a:latin typeface="Funnel Sans" pitchFamily="34" charset="0"/>
                <a:ea typeface="Funnel Sans" pitchFamily="34" charset="-122"/>
                <a:cs typeface="Funnel Sans" pitchFamily="34" charset="-120"/>
              </a:rPr>
              <a:t> through our solar system. Vivid imagery, futuristic fonts, glowing animations, and thoughtful interaction design combine to create an experience that's </a:t>
            </a:r>
            <a:r>
              <a:rPr lang="en-US" sz="1750" dirty="0">
                <a:solidFill>
                  <a:srgbClr val="8F8F8F"/>
                </a:solidFill>
                <a:latin typeface="Funnel Sans" pitchFamily="34" charset="0"/>
              </a:rPr>
              <a:t>engaging for all ages w</a:t>
            </a:r>
            <a:r>
              <a:rPr lang="en-US" sz="1750" dirty="0">
                <a:solidFill>
                  <a:srgbClr val="8F8F8F"/>
                </a:solidFill>
                <a:latin typeface="Funnel Sans" pitchFamily="34" charset="0"/>
                <a:ea typeface="Funnel Sans" pitchFamily="34" charset="-122"/>
                <a:cs typeface="Funnel Sans" pitchFamily="34" charset="-120"/>
              </a:rPr>
              <a:t>hile maintaining a modern, space-themed aesthetic that transforms learning into an adventure.</a:t>
            </a:r>
            <a:endParaRPr lang="en-US" sz="1750" dirty="0"/>
          </a:p>
        </p:txBody>
      </p:sp>
      <p:sp>
        <p:nvSpPr>
          <p:cNvPr id="10" name="Rectangle 9">
            <a:extLst>
              <a:ext uri="{FF2B5EF4-FFF2-40B4-BE49-F238E27FC236}">
                <a16:creationId xmlns:a16="http://schemas.microsoft.com/office/drawing/2014/main" id="{C6B93F8C-3E22-C813-C5E3-E1CE2063767E}"/>
              </a:ext>
            </a:extLst>
          </p:cNvPr>
          <p:cNvSpPr/>
          <p:nvPr/>
        </p:nvSpPr>
        <p:spPr>
          <a:xfrm>
            <a:off x="12612029" y="7437863"/>
            <a:ext cx="1929161" cy="702527"/>
          </a:xfrm>
          <a:prstGeom prst="rect">
            <a:avLst/>
          </a:prstGeom>
          <a:solidFill>
            <a:srgbClr val="1917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118723"/>
          </a:xfrm>
          <a:prstGeom prst="rect">
            <a:avLst/>
          </a:prstGeom>
        </p:spPr>
      </p:pic>
      <p:sp>
        <p:nvSpPr>
          <p:cNvPr id="3" name="Text 0"/>
          <p:cNvSpPr/>
          <p:nvPr/>
        </p:nvSpPr>
        <p:spPr>
          <a:xfrm>
            <a:off x="793790" y="3499604"/>
            <a:ext cx="11341298" cy="1417677"/>
          </a:xfrm>
          <a:prstGeom prst="rect">
            <a:avLst/>
          </a:prstGeom>
          <a:noFill/>
          <a:ln/>
        </p:spPr>
        <p:txBody>
          <a:bodyPr wrap="none" lIns="0" tIns="0" rIns="0" bIns="0" rtlCol="0" anchor="t"/>
          <a:lstStyle/>
          <a:p>
            <a:pPr marL="0" indent="0" algn="l">
              <a:lnSpc>
                <a:spcPts val="11150"/>
              </a:lnSpc>
              <a:buNone/>
            </a:pPr>
            <a:r>
              <a:rPr lang="en-US" sz="8900" dirty="0">
                <a:solidFill>
                  <a:srgbClr val="DDDDDD"/>
                </a:solidFill>
                <a:latin typeface="Mona Sans Semi Bold" pitchFamily="34" charset="0"/>
                <a:ea typeface="Mona Sans Semi Bold" pitchFamily="34" charset="-122"/>
                <a:cs typeface="Mona Sans Semi Bold" pitchFamily="34" charset="-120"/>
              </a:rPr>
              <a:t>Thank You</a:t>
            </a:r>
            <a:endParaRPr lang="en-US" sz="8900" dirty="0"/>
          </a:p>
        </p:txBody>
      </p:sp>
      <p:sp>
        <p:nvSpPr>
          <p:cNvPr id="4" name="Text 1"/>
          <p:cNvSpPr/>
          <p:nvPr/>
        </p:nvSpPr>
        <p:spPr>
          <a:xfrm>
            <a:off x="793790" y="5257443"/>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8F8F8F"/>
                </a:solidFill>
                <a:latin typeface="Funnel Sans" pitchFamily="34" charset="0"/>
                <a:ea typeface="Funnel Sans" pitchFamily="34" charset="-122"/>
                <a:cs typeface="Funnel Sans" pitchFamily="34" charset="-120"/>
              </a:rPr>
              <a:t>We're Team Insane Yodha from Sandip Foundation Polytechnic, and we hope you enjoyed exploring our Smart Planet Selector. This project represents our passion for combining education with engaging technology to inspire curiosity about our incredible solar system.</a:t>
            </a:r>
            <a:endParaRPr lang="en-US" sz="1750" dirty="0"/>
          </a:p>
        </p:txBody>
      </p:sp>
      <p:sp>
        <p:nvSpPr>
          <p:cNvPr id="8" name="Rectangle 7">
            <a:extLst>
              <a:ext uri="{FF2B5EF4-FFF2-40B4-BE49-F238E27FC236}">
                <a16:creationId xmlns:a16="http://schemas.microsoft.com/office/drawing/2014/main" id="{0B2F9B47-275D-6805-747D-84C8464F4C19}"/>
              </a:ext>
            </a:extLst>
          </p:cNvPr>
          <p:cNvSpPr/>
          <p:nvPr/>
        </p:nvSpPr>
        <p:spPr>
          <a:xfrm>
            <a:off x="12612029" y="7437863"/>
            <a:ext cx="1929161" cy="702527"/>
          </a:xfrm>
          <a:prstGeom prst="rect">
            <a:avLst/>
          </a:prstGeom>
          <a:solidFill>
            <a:srgbClr val="1917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636</Words>
  <Application>Microsoft Office PowerPoint</Application>
  <PresentationFormat>Custom</PresentationFormat>
  <Paragraphs>74</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Consolas</vt:lpstr>
      <vt:lpstr>Arial</vt:lpstr>
      <vt:lpstr>Mona Sans Semi Bold</vt:lpstr>
      <vt:lpstr>Funnel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MOHANISH SONAWANE</cp:lastModifiedBy>
  <cp:revision>2</cp:revision>
  <dcterms:created xsi:type="dcterms:W3CDTF">2025-10-04T22:49:10Z</dcterms:created>
  <dcterms:modified xsi:type="dcterms:W3CDTF">2025-10-05T02:36:50Z</dcterms:modified>
</cp:coreProperties>
</file>